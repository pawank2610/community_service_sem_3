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ink/ink2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497" r:id="rId3"/>
    <p:sldId id="499" r:id="rId4"/>
    <p:sldId id="500" r:id="rId5"/>
    <p:sldId id="501" r:id="rId6"/>
    <p:sldId id="505" r:id="rId7"/>
    <p:sldId id="503" r:id="rId8"/>
    <p:sldId id="507" r:id="rId9"/>
    <p:sldId id="504" r:id="rId10"/>
    <p:sldId id="502" r:id="rId11"/>
    <p:sldId id="506" r:id="rId12"/>
    <p:sldId id="269" r:id="rId13"/>
  </p:sldIdLst>
  <p:sldSz cx="9144000" cy="6858000" type="screen4x3"/>
  <p:notesSz cx="6761163" cy="99425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0AA"/>
    <a:srgbClr val="0066B3"/>
    <a:srgbClr val="E31E24"/>
    <a:srgbClr val="006CB4"/>
    <a:srgbClr val="E8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8A3AB1-3A5C-4287-9AA8-685D10062621}" v="8" dt="2026-08-14T09:40:01.0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89" autoAdjust="0"/>
    <p:restoredTop sz="94668"/>
  </p:normalViewPr>
  <p:slideViewPr>
    <p:cSldViewPr>
      <p:cViewPr varScale="1">
        <p:scale>
          <a:sx n="119" d="100"/>
          <a:sy n="119" d="100"/>
        </p:scale>
        <p:origin x="2000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yoti Yadav" userId="8da2e7729ab2cedd" providerId="LiveId" clId="{741A7A88-242A-459A-A359-2627301AD1E9}"/>
    <pc:docChg chg="undo custSel addSld delSld modSld">
      <pc:chgData name="Jyoti Yadav" userId="8da2e7729ab2cedd" providerId="LiveId" clId="{741A7A88-242A-459A-A359-2627301AD1E9}" dt="2026-08-14T17:04:29.606" v="133" actId="2161"/>
      <pc:docMkLst>
        <pc:docMk/>
      </pc:docMkLst>
      <pc:sldChg chg="modSp mod">
        <pc:chgData name="Jyoti Yadav" userId="8da2e7729ab2cedd" providerId="LiveId" clId="{741A7A88-242A-459A-A359-2627301AD1E9}" dt="2026-08-14T17:04:29.606" v="133" actId="2161"/>
        <pc:sldMkLst>
          <pc:docMk/>
          <pc:sldMk cId="4142536426" sldId="497"/>
        </pc:sldMkLst>
        <pc:spChg chg="mod">
          <ac:chgData name="Jyoti Yadav" userId="8da2e7729ab2cedd" providerId="LiveId" clId="{741A7A88-242A-459A-A359-2627301AD1E9}" dt="2026-08-14T17:03:48.917" v="130" actId="20577"/>
          <ac:spMkLst>
            <pc:docMk/>
            <pc:sldMk cId="4142536426" sldId="497"/>
            <ac:spMk id="13" creationId="{00000000-0000-0000-0000-000000000000}"/>
          </ac:spMkLst>
        </pc:spChg>
        <pc:graphicFrameChg chg="modGraphic">
          <ac:chgData name="Jyoti Yadav" userId="8da2e7729ab2cedd" providerId="LiveId" clId="{741A7A88-242A-459A-A359-2627301AD1E9}" dt="2026-08-14T17:04:29.606" v="133" actId="2161"/>
          <ac:graphicFrameMkLst>
            <pc:docMk/>
            <pc:sldMk cId="4142536426" sldId="497"/>
            <ac:graphicFrameMk id="2" creationId="{232DFD41-0025-28B4-FE3B-A54FAEE28F42}"/>
          </ac:graphicFrameMkLst>
        </pc:graphicFrameChg>
      </pc:sldChg>
      <pc:sldChg chg="modSp mod">
        <pc:chgData name="Jyoti Yadav" userId="8da2e7729ab2cedd" providerId="LiveId" clId="{741A7A88-242A-459A-A359-2627301AD1E9}" dt="2026-08-14T09:37:00.209" v="34" actId="14100"/>
        <pc:sldMkLst>
          <pc:docMk/>
          <pc:sldMk cId="3353784259" sldId="499"/>
        </pc:sldMkLst>
        <pc:spChg chg="mod">
          <ac:chgData name="Jyoti Yadav" userId="8da2e7729ab2cedd" providerId="LiveId" clId="{741A7A88-242A-459A-A359-2627301AD1E9}" dt="2026-08-14T09:37:00.209" v="34" actId="14100"/>
          <ac:spMkLst>
            <pc:docMk/>
            <pc:sldMk cId="3353784259" sldId="499"/>
            <ac:spMk id="5" creationId="{00000000-0000-0000-0000-000000000000}"/>
          </ac:spMkLst>
        </pc:spChg>
      </pc:sldChg>
      <pc:sldChg chg="modSp mod">
        <pc:chgData name="Jyoti Yadav" userId="8da2e7729ab2cedd" providerId="LiveId" clId="{741A7A88-242A-459A-A359-2627301AD1E9}" dt="2026-08-14T09:41:09.858" v="116" actId="20577"/>
        <pc:sldMkLst>
          <pc:docMk/>
          <pc:sldMk cId="1047329288" sldId="500"/>
        </pc:sldMkLst>
        <pc:spChg chg="mod">
          <ac:chgData name="Jyoti Yadav" userId="8da2e7729ab2cedd" providerId="LiveId" clId="{741A7A88-242A-459A-A359-2627301AD1E9}" dt="2026-08-14T09:41:09.858" v="116" actId="20577"/>
          <ac:spMkLst>
            <pc:docMk/>
            <pc:sldMk cId="1047329288" sldId="500"/>
            <ac:spMk id="5" creationId="{00000000-0000-0000-0000-000000000000}"/>
          </ac:spMkLst>
        </pc:spChg>
        <pc:picChg chg="mod">
          <ac:chgData name="Jyoti Yadav" userId="8da2e7729ab2cedd" providerId="LiveId" clId="{741A7A88-242A-459A-A359-2627301AD1E9}" dt="2026-08-14T09:40:40.069" v="101" actId="1076"/>
          <ac:picMkLst>
            <pc:docMk/>
            <pc:sldMk cId="1047329288" sldId="500"/>
            <ac:picMk id="4" creationId="{00000000-0000-0000-0000-000000000000}"/>
          </ac:picMkLst>
        </pc:picChg>
        <pc:cxnChg chg="mod">
          <ac:chgData name="Jyoti Yadav" userId="8da2e7729ab2cedd" providerId="LiveId" clId="{741A7A88-242A-459A-A359-2627301AD1E9}" dt="2026-08-14T09:40:50.224" v="103" actId="1076"/>
          <ac:cxnSpMkLst>
            <pc:docMk/>
            <pc:sldMk cId="1047329288" sldId="500"/>
            <ac:cxnSpMk id="7" creationId="{00000000-0000-0000-0000-000000000000}"/>
          </ac:cxnSpMkLst>
        </pc:cxnChg>
      </pc:sldChg>
      <pc:sldChg chg="modSp mod">
        <pc:chgData name="Jyoti Yadav" userId="8da2e7729ab2cedd" providerId="LiveId" clId="{741A7A88-242A-459A-A359-2627301AD1E9}" dt="2026-08-14T09:41:21.217" v="117" actId="255"/>
        <pc:sldMkLst>
          <pc:docMk/>
          <pc:sldMk cId="957423197" sldId="501"/>
        </pc:sldMkLst>
        <pc:spChg chg="mod">
          <ac:chgData name="Jyoti Yadav" userId="8da2e7729ab2cedd" providerId="LiveId" clId="{741A7A88-242A-459A-A359-2627301AD1E9}" dt="2026-08-14T09:41:21.217" v="117" actId="255"/>
          <ac:spMkLst>
            <pc:docMk/>
            <pc:sldMk cId="957423197" sldId="501"/>
            <ac:spMk id="5" creationId="{00000000-0000-0000-0000-000000000000}"/>
          </ac:spMkLst>
        </pc:spChg>
      </pc:sldChg>
      <pc:sldChg chg="modSp">
        <pc:chgData name="Jyoti Yadav" userId="8da2e7729ab2cedd" providerId="LiveId" clId="{741A7A88-242A-459A-A359-2627301AD1E9}" dt="2026-08-14T09:37:37.531" v="36" actId="14100"/>
        <pc:sldMkLst>
          <pc:docMk/>
          <pc:sldMk cId="2093371696" sldId="503"/>
        </pc:sldMkLst>
        <pc:spChg chg="mod">
          <ac:chgData name="Jyoti Yadav" userId="8da2e7729ab2cedd" providerId="LiveId" clId="{741A7A88-242A-459A-A359-2627301AD1E9}" dt="2026-08-14T09:37:37.531" v="36" actId="14100"/>
          <ac:spMkLst>
            <pc:docMk/>
            <pc:sldMk cId="2093371696" sldId="503"/>
            <ac:spMk id="5" creationId="{00000000-0000-0000-0000-000000000000}"/>
          </ac:spMkLst>
        </pc:spChg>
      </pc:sldChg>
      <pc:sldChg chg="modSp mod">
        <pc:chgData name="Jyoti Yadav" userId="8da2e7729ab2cedd" providerId="LiveId" clId="{741A7A88-242A-459A-A359-2627301AD1E9}" dt="2026-08-14T09:36:16.877" v="30" actId="20577"/>
        <pc:sldMkLst>
          <pc:docMk/>
          <pc:sldMk cId="3449068858" sldId="504"/>
        </pc:sldMkLst>
        <pc:spChg chg="mod">
          <ac:chgData name="Jyoti Yadav" userId="8da2e7729ab2cedd" providerId="LiveId" clId="{741A7A88-242A-459A-A359-2627301AD1E9}" dt="2026-08-14T09:36:16.877" v="30" actId="20577"/>
          <ac:spMkLst>
            <pc:docMk/>
            <pc:sldMk cId="3449068858" sldId="504"/>
            <ac:spMk id="5" creationId="{00000000-0000-0000-0000-000000000000}"/>
          </ac:spMkLst>
        </pc:spChg>
      </pc:sldChg>
      <pc:sldChg chg="modSp mod">
        <pc:chgData name="Jyoti Yadav" userId="8da2e7729ab2cedd" providerId="LiveId" clId="{741A7A88-242A-459A-A359-2627301AD1E9}" dt="2026-08-14T09:35:40.835" v="20" actId="14100"/>
        <pc:sldMkLst>
          <pc:docMk/>
          <pc:sldMk cId="3449508277" sldId="507"/>
        </pc:sldMkLst>
        <pc:spChg chg="mod">
          <ac:chgData name="Jyoti Yadav" userId="8da2e7729ab2cedd" providerId="LiveId" clId="{741A7A88-242A-459A-A359-2627301AD1E9}" dt="2026-08-14T09:35:40.835" v="20" actId="14100"/>
          <ac:spMkLst>
            <pc:docMk/>
            <pc:sldMk cId="3449508277" sldId="507"/>
            <ac:spMk id="5" creationId="{3B6D9598-AD90-B9CA-8610-998CE22F1CA3}"/>
          </ac:spMkLst>
        </pc:spChg>
      </pc:sldChg>
      <pc:sldChg chg="del">
        <pc:chgData name="Jyoti Yadav" userId="8da2e7729ab2cedd" providerId="LiveId" clId="{741A7A88-242A-459A-A359-2627301AD1E9}" dt="2026-08-14T09:34:54.017" v="0" actId="47"/>
        <pc:sldMkLst>
          <pc:docMk/>
          <pc:sldMk cId="292643029" sldId="508"/>
        </pc:sldMkLst>
      </pc:sldChg>
      <pc:sldChg chg="modSp add del mod">
        <pc:chgData name="Jyoti Yadav" userId="8da2e7729ab2cedd" providerId="LiveId" clId="{741A7A88-242A-459A-A359-2627301AD1E9}" dt="2026-08-14T09:39:14.658" v="60" actId="47"/>
        <pc:sldMkLst>
          <pc:docMk/>
          <pc:sldMk cId="3219318963" sldId="508"/>
        </pc:sldMkLst>
        <pc:spChg chg="mod">
          <ac:chgData name="Jyoti Yadav" userId="8da2e7729ab2cedd" providerId="LiveId" clId="{741A7A88-242A-459A-A359-2627301AD1E9}" dt="2026-08-14T09:38:37.693" v="59" actId="207"/>
          <ac:spMkLst>
            <pc:docMk/>
            <pc:sldMk cId="3219318963" sldId="508"/>
            <ac:spMk id="5" creationId="{4A008BBA-F1B0-E3BE-4016-1FD9281CD3B9}"/>
          </ac:spMkLst>
        </pc:spChg>
        <pc:picChg chg="mod">
          <ac:chgData name="Jyoti Yadav" userId="8da2e7729ab2cedd" providerId="LiveId" clId="{741A7A88-242A-459A-A359-2627301AD1E9}" dt="2026-08-14T09:38:33.516" v="58" actId="1076"/>
          <ac:picMkLst>
            <pc:docMk/>
            <pc:sldMk cId="3219318963" sldId="508"/>
            <ac:picMk id="4" creationId="{9804EFDB-BB67-D8F6-BB7B-DD42242312AE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0T15:49:54.47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299 638 24575,'1'-13'0,"2"1"0,-1-1 0,2 1 0,0-1 0,0 1 0,1 0 0,0 0 0,1 1 0,12-18 0,-7 10 0,15-34 0,-25 51 0,-1 0 0,1 0 0,-1 1 0,1-1 0,-1 0 0,1 0 0,-1 0 0,0 0 0,0 0 0,0 0 0,-1-3 0,1 4 0,0 1 0,0-1 0,0 1 0,-1-1 0,1 1 0,0-1 0,-1 0 0,1 1 0,0-1 0,-1 1 0,1 0 0,-1-1 0,1 1 0,0-1 0,-1 1 0,0 0 0,1-1 0,-1 1 0,1 0 0,-1-1 0,1 1 0,-1 0 0,-1-1 0,0 1 0,-1 0 0,0 0 0,1 0 0,-1 1 0,0-1 0,1 1 0,-1-1 0,0 1 0,1 0 0,-1 0 0,1 0 0,-1 0 0,1 0 0,-4 3 0,-22 16 0,-46 41 0,-9 7 0,-17 16 0,87-77 0,6-10 0,7 1 0,-1 1 0,1 0 0,0 0 0,0 0 0,0-1 0,0 1 0,0 0 0,1 0 0,-1 0 0,0 0 0,0-1 0,1 1 0,-1 0 0,1 0 0,-1 0 0,1 0 0,-1 0 0,1 0 0,1-1 0,17-28 0,0 0 0,-2-1 0,-2-1 0,14-39 0,-27 67 0,-1-1 0,0 1 0,0-1 0,0 1 0,0-1 0,-1 0 0,0 1 0,0-9 0,0 11 0,-1 0 0,1 0 0,-1 1 0,0-1 0,0 0 0,1 1 0,-1-1 0,0 0 0,0 1 0,-1-1 0,1 1 0,0 0 0,0-1 0,-1 1 0,1 0 0,-1 0 0,1 0 0,-1 0 0,1 0 0,-1 0 0,0 0 0,1 0 0,-1 1 0,-2-2 0,1 2 0,0-1 0,1-1 0,-1 1 0,1 0 0,-1-1 0,1 1 0,0-1 0,0 0 0,0 0 0,0 0 0,0 0 0,0 0 0,0 0 0,1 0 0,-1-1 0,1 1 0,-3-5 0,2 3 0,0 0 0,0 0 0,-1 1 0,1 0 0,-1-1 0,-5-4 0,-15-3 0,21 11 0,1 0 0,0-1 0,0 1 0,0 0 0,-1-1 0,1 1 0,0-1 0,0 1 0,0-1 0,0 1 0,0-1 0,0 0 0,0 1 0,0-1 0,0 0 0,0 0 0,0 0 0,1 0 0,-1 0 0,0 0 0,0 0 0,1 0 0,-1 0 0,1 0 0,-1 0 0,1 0 0,0-1 0,-1 1 0,1 0 0,0 0 0,0 0 0,0-3 0,-1 0 0,0 1 0,1-1 0,0 0 0,0 0 0,0 0 0,1 1 0,-1-1 0,1 0 0,0 0 0,0 1 0,0-1 0,0 1 0,1-1 0,-1 1 0,1-1 0,0 1 0,0 0 0,0 0 0,1 0 0,-1 0 0,1 0 0,0 0 0,-1 1 0,1-1 0,0 1 0,0 0 0,1 0 0,-1 0 0,0 0 0,1 1 0,-1-1 0,1 1 0,0 0 0,-1 0 0,1 0 0,0 1 0,0-1 0,-1 1 0,1 0 0,0 0 0,0 0 0,0 0 0,-1 1 0,8 1 0,4 4 0,0 0 0,0 1 0,-1 0 0,25 17 0,13 7 0,-36-22 0,0-2 0,0 0 0,1-1 0,0-1 0,0-1 0,27 4 0,-39-7 0,0 0 0,0-1 0,0 0 0,-1 0 0,1 0 0,0-1 0,0 0 0,0 0 0,-1 0 0,1 0 0,0-1 0,-1 1 0,1-1 0,-1 0 0,0-1 0,1 1 0,-1-1 0,0 0 0,-1 0 0,1 0 0,0 0 0,-1-1 0,0 0 0,0 1 0,0-1 0,0 0 0,-1-1 0,4-5 0,2-15 0,-5 15 0,1 0 0,-1 0 0,2 0 0,7-13 0,-11 22 0,-1 0 0,1-1 0,0 1 0,0 0 0,0 0 0,-1 0 0,1 0 0,1 0 0,-1 0 0,0 0 0,0 1 0,0-1 0,0 0 0,0 1 0,1-1 0,-1 0 0,0 1 0,1 0 0,-1-1 0,0 1 0,1 0 0,-1-1 0,0 1 0,1 0 0,-1 0 0,1 0 0,-1 0 0,0 1 0,1-1 0,-1 0 0,1 1 0,-1-1 0,0 0 0,0 1 0,1 0 0,-1-1 0,0 1 0,0 0 0,2 1 0,2 3 0,-1-1 0,-1 1 0,1 0 0,-1 1 0,0-1 0,0 0 0,0 1 0,-1 0 0,1-1 0,-2 1 0,1 0 0,1 7 0,10 26 0,-9-31 0,1 0 0,0 0 0,0-1 0,1 0 0,0 0 0,1 0 0,-1 0 0,1-1 0,1-1 0,-1 1 0,1-1 0,12 7 0,-7-6 0,-1 0 0,1-1 0,0 0 0,0-1 0,0-1 0,1 0 0,24 2 0,-34-5 0,0 0 0,0 0 0,0-1 0,0 0 0,0 0 0,-1 0 0,1 0 0,0 0 0,0-1 0,-1 0 0,1 0 0,-1 0 0,5-3 0,43-41 0,-9 8 0,9 4 0,2 3 0,1 2 0,66-25 0,-98 46 0,1 2 0,0 1 0,0 0 0,0 2 0,43-1 0,26-3 0,-55 3 0,37 2 0,11-1 0,-73 0 0,-15-2 0,-21-2 0,-2 3 0,0 2 0,-1 1 0,1 1 0,0 1 0,0 1 0,0 2 0,0 0 0,1 2 0,-1 0 0,1 2 0,-41 19 0,61-24 0,-1 0 0,1-1 0,-1 1 0,0-1 0,0 0 0,0-1 0,-1 0 0,1 0 0,0 0 0,0-1 0,0 1 0,-1-2 0,1 1 0,0-1 0,0 0 0,-1 0 0,1 0 0,0-1 0,0 0 0,0 0 0,1-1 0,-1 1 0,1-1 0,-1-1 0,1 1 0,0-1 0,-7-6 0,5 4 0,0 0 0,-1 0 0,0 0 0,0 1 0,0 0 0,-1 1 0,0 0 0,1 0 0,-2 1 0,1 0 0,0 0 0,-1 1 0,1 0 0,-1 1 0,1 0 0,-16 1 0,2 1 0,1 0 0,0 2 0,0 0 0,0 1 0,-35 13 0,32-9 0,17-6 0,-1 0 0,0 1 0,1 0 0,0 1 0,0-1 0,0 2 0,0-1 0,0 1 0,1 0 0,0 1 0,0 0 0,-9 10 0,-2 9 0,1 1 0,1 0 0,1 2 0,-21 53 0,-129 245 0,132-268 0,-71 116 0,88-149 0,15-23 0,-1-1 0,1 1 0,0 0 0,0 0 0,0 0 0,0 0 0,1 0 0,-1 1 0,0-1 0,1 0 0,-1 0 0,1 0 0,0 1 0,0-1 0,0 0 0,0 3 0,1-4 0,-1-1 0,0 1 0,0 0 0,1-1 0,-1 1 0,0-1 0,1 1 0,-1-1 0,0 0 0,1 1 0,-1-1 0,1 1 0,-1-1 0,1 0 0,-1 1 0,1-1 0,-1 0 0,1 1 0,0-1 0,-1 0 0,2 1 0,21-3 0,-11-2 0,0-1 0,0 0 0,-1-1 0,0 0 0,0 0 0,0-1 0,18-17 0,61-66 0,-65 58 0,-2 0 0,-1-2 0,23-46 0,10-16 0,-16 26 0,-26 45 0,1 1 0,27-37 0,-39 58 0,1 0 0,-1 1 0,0-1 0,1 1 0,-1 0 0,1-1 0,0 1 0,0 1 0,0-1 0,0 0 0,0 1 0,0-1 0,0 1 0,1 0 0,-1 0 0,0 1 0,1-1 0,-1 0 0,0 1 0,1 0 0,-1 0 0,1 0 0,-1 0 0,0 1 0,1-1 0,-1 1 0,1 0 0,-1 0 0,0 0 0,0 0 0,0 1 0,0-1 0,0 1 0,0 0 0,0 0 0,0 0 0,0 0 0,-1 0 0,1 1 0,-1-1 0,0 1 0,0 0 0,0-1 0,0 1 0,0 0 0,-1 0 0,1 0 0,-1 1 0,0-1 0,1 0 0,0 7 0,1 35 0,-1 1 0,-8 77 0,5-120 0,0 10 0,-1 1 0,-1-1 0,0 0 0,-1 0 0,0-1 0,-1 1 0,0-1 0,-1 0 0,0 0 0,-1-1 0,-12 15 0,13-17 0,1-1 0,0 0 0,1 1 0,0 0 0,0 0 0,1 1 0,0-1 0,1 1 0,0-1 0,-2 18 0,4-27 0,0 0 0,0 0 0,0 0 0,0 1 0,0-1 0,0 0 0,0 0 0,0 0 0,0 0 0,0 0 0,0 0 0,0 0 0,0 1 0,0-1 0,0 0 0,0 0 0,0 0 0,0 0 0,0 0 0,0 0 0,0 0 0,0 0 0,0 1 0,0-1 0,0 0 0,0 0 0,0 0 0,0 0 0,0 0 0,0 0 0,0 0 0,1 0 0,-1 0 0,0 1 0,0-1 0,0 0 0,0 0 0,0 0 0,0 0 0,0 0 0,0 0 0,0 0 0,1 0 0,-1 0 0,0 0 0,0 0 0,0 0 0,0 0 0,0 0 0,0 0 0,0 0 0,1 0 0,-1 0 0,0 0 0,0 0 0,0 0 0,0 0 0,0 0 0,0 0 0,0 0 0,0 0 0,1 0 0,-1 0 0,7-9 0,7-14 0,41-109 0,31-60 0,-60 137 0,10-19 0,-31 66 0,-1 1 0,1 0 0,0 0 0,1 0 0,0 1 0,12-11 0,-18 16 0,1 0 0,0 0 0,0 1 0,-1-1 0,1 1 0,0-1 0,0 1 0,0-1 0,0 1 0,0-1 0,0 1 0,0 0 0,0 0 0,0-1 0,0 1 0,0 0 0,0 0 0,0 0 0,0 0 0,0 0 0,0 0 0,0 0 0,0 1 0,0-1 0,0 0 0,0 1 0,0-1 0,0 0 0,0 1 0,1 0 0,0 1 0,0 0 0,0 0 0,0 1 0,-1-1 0,1 0 0,-1 1 0,1-1 0,-1 1 0,0-1 0,0 1 0,1 3 0,2 9 0,0 0 0,2 31 0,-3 36 0,-15 161 0,1-81 0,14-131 0,1-27 0,1-19 0,4-49 0,-6 43 0,0-1 0,1 0 0,1 1 0,0 0 0,2 0 0,1 1 0,11-23 0,-3 18 0,1 0 0,39-44 0,-46 56 0,-6 9 0,-1-1 0,1 1 0,0-1 0,0 1 0,0 0 0,6-4 0,-9 8 0,0-1 0,0 1 0,0 0 0,0-1 0,0 1 0,0 0 0,0 0 0,0-1 0,0 1 0,0 0 0,0 0 0,0 0 0,0 0 0,0 1 0,0-1 0,0 0 0,0 0 0,0 1 0,0-1 0,0 0 0,0 1 0,0-1 0,0 1 0,0-1 0,0 1 0,-1-1 0,1 1 0,0 0 0,0 0 0,-1-1 0,1 1 0,0 0 0,-1 0 0,1 0 0,-1 0 0,1-1 0,-1 1 0,1 0 0,-1 0 0,0 0 0,1 2 0,6 19 0,0-1 0,-2 2 0,0-1 0,-1 0 0,0 43 0,-3 54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0T15:54:58.64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0 24575,'50'2'0,"58"11"0,47 1 0,-132-12 0,0 0 0,31 8 0,-30-5 0,48 4 0,-32-6 0,41 8 0,-43-5 0,57 2 0,-85-7 0,1-1 0,-1-1 0,1 0 0,-1 0 0,1-1 0,-1 0 0,0-1 0,0 0 0,0-1 0,17-8 0,-13 5 0,-1 2 0,1 0 0,1 0 0,-1 1 0,1 1 0,-1 1 0,1 0 0,0 1 0,0 0 0,26 3 0,-13 1 0,0 1 0,-1 1 0,1 2 0,45 17 0,-40-14 291,-25-8-622,0 1 0,0-1-1,0 2 1,10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68431-CD35-4516-818D-B41B2C4843CF}" type="datetimeFigureOut">
              <a:rPr lang="en-IN" smtClean="0"/>
              <a:t>13/09/26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4588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949B3-C4AB-4FB2-8B24-B07A558BD5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6534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5600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6966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04681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08931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15464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96401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A6B61-674B-0ABF-F5C3-A72BF2845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2FBED0-DE41-A040-921A-D95B51852C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3F754-664A-ECDE-8199-65800D976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F3E54-5ADF-52CC-11B5-B7F7837DEE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71296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6050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37544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3691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13/09/26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1617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13/09/26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195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13/09/26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0717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13/09/26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1185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13/09/26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1301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13/09/26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5240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13/09/26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1787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13/09/26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9679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13/09/26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6846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13/09/26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755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13/09/26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5389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AA89A1-F17A-4D3D-AC08-D16056C16514}" type="datetimeFigureOut">
              <a:rPr lang="en-IN" smtClean="0"/>
              <a:t>13/09/26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8759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PT Admission Drive 2021-22-final-2_Pag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0383"/>
          </a:xfrm>
          <a:prstGeom prst="rect">
            <a:avLst/>
          </a:prstGeom>
        </p:spPr>
      </p:pic>
    </p:spTree>
  </p:cSld>
  <p:clrMapOvr>
    <a:masterClrMapping/>
  </p:clrMapOvr>
  <p:transition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512" y="260648"/>
            <a:ext cx="9180512" cy="6885384"/>
          </a:xfrm>
        </p:spPr>
      </p:pic>
      <p:cxnSp>
        <p:nvCxnSpPr>
          <p:cNvPr id="11" name="Straight Connector 10"/>
          <p:cNvCxnSpPr/>
          <p:nvPr/>
        </p:nvCxnSpPr>
        <p:spPr>
          <a:xfrm>
            <a:off x="1565174" y="2204864"/>
            <a:ext cx="63065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0382" y="150274"/>
            <a:ext cx="6396065" cy="9208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22061" y="2367609"/>
            <a:ext cx="87849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SzPct val="25000"/>
            </a:pPr>
            <a:r>
              <a:rPr lang="en-IN" sz="2400" b="1" dirty="0">
                <a:solidFill>
                  <a:srgbClr val="0070C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Second Year</a:t>
            </a:r>
          </a:p>
          <a:p>
            <a:pPr lvl="0" algn="ctr">
              <a:buSzPct val="25000"/>
            </a:pPr>
            <a:r>
              <a:rPr lang="en-IN" sz="2400" b="1" dirty="0">
                <a:solidFill>
                  <a:srgbClr val="0070C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Submitted by</a:t>
            </a: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232DFD41-0025-28B4-FE3B-A54FAEE28F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1657591"/>
              </p:ext>
            </p:extLst>
          </p:nvPr>
        </p:nvGraphicFramePr>
        <p:xfrm>
          <a:off x="1670447" y="3505366"/>
          <a:ext cx="6096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53727046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30502494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70C0"/>
                          </a:solidFill>
                        </a:defRPr>
                      </a:pPr>
                      <a:r>
                        <a:rPr lang="en-US" dirty="0"/>
                        <a:t>ROLL NO.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70C0"/>
                          </a:solidFill>
                        </a:defRPr>
                      </a:pPr>
                      <a:r>
                        <a:rPr lang="en-US"/>
                        <a:t>STUDENT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89833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rPr lang="en-US" dirty="0"/>
                        <a:t>2501730046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rPr lang="en-US"/>
                        <a:t>Bhavya Anand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610186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rPr lang="en-US" dirty="0"/>
                        <a:t>2501730051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rPr lang="en-US" dirty="0"/>
                        <a:t>Priyanshu Pandey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820632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rPr lang="en-US" dirty="0"/>
                        <a:t>2501730172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rPr lang="en-US" dirty="0"/>
                        <a:t>Aman Kumar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064529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rPr lang="en-US" dirty="0"/>
                        <a:t>2501730197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rPr lang="en-US" dirty="0"/>
                        <a:t>Archita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389048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rPr lang="en-US" dirty="0"/>
                        <a:t>2501730252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</a:defRPr>
                      </a:pPr>
                      <a:r>
                        <a:rPr lang="en-US" dirty="0"/>
                        <a:t>Pawan K. Singh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323462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DF18845-4075-32C5-8F4A-4F40F86E837F}"/>
              </a:ext>
            </a:extLst>
          </p:cNvPr>
          <p:cNvSpPr txBox="1"/>
          <p:nvPr/>
        </p:nvSpPr>
        <p:spPr>
          <a:xfrm>
            <a:off x="1414310" y="1372508"/>
            <a:ext cx="66082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SzPct val="25000"/>
              <a:defRPr sz="2400" b="1">
                <a:solidFill>
                  <a:srgbClr val="C00000"/>
                </a:solidFill>
              </a:defRPr>
            </a:pPr>
            <a:r>
              <a:t>Digital Transformation and Visibility Enhancement</a:t>
            </a:r>
            <a:br/>
            <a:r>
              <a:t>for Local Coaching Educators</a:t>
            </a:r>
          </a:p>
          <a:p>
            <a:pPr algn="ctr">
              <a:defRPr sz="1300" b="0">
                <a:solidFill>
                  <a:srgbClr val="334155"/>
                </a:solidFill>
              </a:defRPr>
            </a:pPr>
            <a:r>
              <a:t>Community Service Project — Prime Learning Classes (Sec-22B, Gurugram)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D4C745-33B7-0116-E20F-11A7F0DFD46F}"/>
              </a:ext>
            </a:extLst>
          </p:cNvPr>
          <p:cNvSpPr txBox="1"/>
          <p:nvPr/>
        </p:nvSpPr>
        <p:spPr>
          <a:xfrm>
            <a:off x="236440" y="5733256"/>
            <a:ext cx="8584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SzPct val="25000"/>
              <a:defRPr sz="1500" b="1">
                <a:solidFill>
                  <a:srgbClr val="0070C0"/>
                </a:solidFill>
              </a:defRPr>
            </a:pPr>
            <a:r>
              <a:t>Faculty Mentor: Department Community Service Coordinator</a:t>
            </a:r>
            <a:endParaRPr lang="en-IN" sz="1800" b="1" dirty="0">
              <a:solidFill>
                <a:srgbClr val="0070C0"/>
              </a:solidFill>
              <a:ea typeface="Cambria" panose="02040503050406030204" pitchFamily="18" charset="0"/>
              <a:cs typeface="Times New Roman" panose="02020603050405020304" pitchFamily="18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25364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72008" y="90038"/>
            <a:ext cx="9266165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IN" sz="4000" b="1" dirty="0"/>
              <a:t>Problem Statement &amp; Community Context</a:t>
            </a:r>
            <a:endParaRPr lang="en-IN" sz="40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10" name="TextBox 5"/>
          <p:cNvSpPr txBox="1"/>
          <p:nvPr/>
        </p:nvSpPr>
        <p:spPr>
          <a:xfrm>
            <a:off x="731520" y="1234439"/>
            <a:ext cx="8016944" cy="4903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Beneficiary Background &amp; Location</a:t>
            </a:r>
          </a:p>
          <a:p>
            <a:pPr lvl="1">
              <a:spcAft>
                <a:spcPts val="800"/>
              </a:spcAft>
            </a:pPr>
            <a:r>
              <a:rPr sz="1400" b="0" dirty="0">
                <a:solidFill>
                  <a:srgbClr val="334155"/>
                </a:solidFill>
              </a:rPr>
              <a:t>Prime Learning Classes is a neighborhood coaching center run by two local teachers at 948, Sector-22B, Near Anand Farm, Gurugram. The faculty includes Praveen Gandhi (M.Sc. Mathematics, 12+ yrs exp) and Rashmi Anand (M.Sc. Organic Chemistry, 10+ yrs exp), teaching CBSE Class 1 to 12.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8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The Core Problem — Lack of Digital Visibility</a:t>
            </a:r>
          </a:p>
          <a:p>
            <a:pPr lvl="1">
              <a:spcAft>
                <a:spcPts val="800"/>
              </a:spcAft>
            </a:pPr>
            <a:r>
              <a:rPr sz="1400" b="0" dirty="0">
                <a:solidFill>
                  <a:srgbClr val="334155"/>
                </a:solidFill>
              </a:rPr>
              <a:t>Despite having strong subject knowledge and great board exam results, the teachers relied completely on traditional word-of-mouth promotion. They had zero online presence or Google Maps listing, making it difficult for nearby parents in Sector 22B, Sector 21, and Palam Vihar to discover them.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8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Underutilized Teaching Capacity &amp; Inefficient Lead Tracking</a:t>
            </a:r>
          </a:p>
          <a:p>
            <a:pPr lvl="1">
              <a:spcAft>
                <a:spcPts val="800"/>
              </a:spcAft>
            </a:pPr>
            <a:r>
              <a:rPr sz="1400" b="0" dirty="0">
                <a:solidFill>
                  <a:srgbClr val="334155"/>
                </a:solidFill>
              </a:rPr>
              <a:t>Batch sizes averaged only 4 to 6 students against an available classroom capacity of 15 students. Student inquiries and demo requests were recorded informally on loose paper without follow-up tracking, leading to high inquiry drop-off.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8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Community Need</a:t>
            </a:r>
          </a:p>
          <a:p>
            <a:pPr lvl="1"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</a:rPr>
              <a:t>A simple, low-cost digital ecosystem that increases their local visibility, streamlines student inquiries and free trial classes, and makes academic communication with parents organized and professional.</a:t>
            </a:r>
          </a:p>
        </p:txBody>
      </p:sp>
    </p:spTree>
    <p:extLst>
      <p:ext uri="{BB962C8B-B14F-4D97-AF65-F5344CB8AC3E}">
        <p14:creationId xmlns:p14="http://schemas.microsoft.com/office/powerpoint/2010/main" val="3353784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-433182"/>
            <a:ext cx="9324528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endParaRPr lang="en-US" sz="3600" b="1" kern="100" dirty="0">
              <a:effectLst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SzPct val="25000"/>
            </a:pPr>
            <a:r>
              <a:rPr lang="en-US" sz="3600" b="1" kern="1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Specific Objectives of Project / </a:t>
            </a:r>
          </a:p>
          <a:p>
            <a:pPr lvl="0">
              <a:buSzPct val="25000"/>
            </a:pPr>
            <a:r>
              <a:rPr lang="en-US" sz="3600" b="1" kern="1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Requirements of </a:t>
            </a:r>
            <a:r>
              <a:rPr lang="en-US" sz="3600" b="1" kern="1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Organisation</a:t>
            </a:r>
            <a:endParaRPr lang="en-IN" sz="36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293834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545780" y="1336297"/>
            <a:ext cx="8232968" cy="5047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1. Professional Web Portal for Educators</a:t>
            </a:r>
            <a:endParaRPr lang="en-US" sz="14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700"/>
              </a:spcAft>
            </a:pPr>
            <a:r>
              <a:rPr sz="1400" b="0" dirty="0">
                <a:solidFill>
                  <a:srgbClr val="334155"/>
                </a:solidFill>
              </a:rPr>
              <a:t>Create a clean website presenting faculty qualifications, subjects taught, batch timings, fee structures, location landmarks, student testimonials, and direct WhatsApp/call buttons.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7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2. Google Maps Identity &amp; Local Search Optimization</a:t>
            </a:r>
          </a:p>
          <a:p>
            <a:pPr lvl="1">
              <a:spcAft>
                <a:spcPts val="700"/>
              </a:spcAft>
            </a:pPr>
            <a:r>
              <a:rPr sz="1400" b="0" dirty="0">
                <a:solidFill>
                  <a:srgbClr val="334155"/>
                </a:solidFill>
              </a:rPr>
              <a:t>Set up and optimize their Google Business Profile with verified location, timings, and genuine parent reviews so nearby residents searching for 'coaching near me' find them easily.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7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3. Free Trial Class &amp; Lead Management System</a:t>
            </a:r>
          </a:p>
          <a:p>
            <a:pPr lvl="1">
              <a:spcAft>
                <a:spcPts val="700"/>
              </a:spcAft>
            </a:pPr>
            <a:r>
              <a:rPr sz="1400" b="0" dirty="0">
                <a:solidFill>
                  <a:srgbClr val="334155"/>
                </a:solidFill>
              </a:rPr>
              <a:t>Build an easy 3-day demo registration form, attendance tracking for trial students, printable demo admit passes, and automated WhatsApp follow-ups to convert trial students into regular admissions.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7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4. Local Marketing &amp; QR Promotion Kit</a:t>
            </a:r>
          </a:p>
          <a:p>
            <a:pPr lvl="1">
              <a:spcAft>
                <a:spcPts val="700"/>
              </a:spcAft>
            </a:pPr>
            <a:r>
              <a:rPr sz="1400" b="0" dirty="0">
                <a:solidFill>
                  <a:srgbClr val="334155"/>
                </a:solidFill>
              </a:rPr>
              <a:t>Provide a marketing studio to generate printable admission flyers, society notice board posters, and table-top QR standees for physical outreach in nearby apartment blocks.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7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5. Academic Operations &amp; Zero Recurring Cost</a:t>
            </a:r>
          </a:p>
          <a:p>
            <a:pPr lvl="1"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</a:rPr>
              <a:t>Digitize daily attendance tracking, CBSE health meters, report cards, and online UPI fees. Ensure the platform runs on 100% free-tier cloud infrastructure with no monthly expenses for teachers.</a:t>
            </a:r>
          </a:p>
        </p:txBody>
      </p:sp>
    </p:spTree>
    <p:extLst>
      <p:ext uri="{BB962C8B-B14F-4D97-AF65-F5344CB8AC3E}">
        <p14:creationId xmlns:p14="http://schemas.microsoft.com/office/powerpoint/2010/main" val="1047329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59259"/>
            <a:ext cx="8568952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IN" sz="4400" b="1" dirty="0"/>
              <a:t>SDG </a:t>
            </a:r>
            <a:r>
              <a:rPr lang="en-IN" sz="4000" b="1" dirty="0"/>
              <a:t>Mapping</a:t>
            </a:r>
            <a:r>
              <a:rPr lang="en-IN" sz="4400" b="1" dirty="0"/>
              <a:t> &amp; Justification</a:t>
            </a:r>
            <a:endParaRPr lang="en-IN" sz="44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731520" y="1234440"/>
            <a:ext cx="7680960" cy="3610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SDG 4: Quality Education (Targets 4.1 &amp; 4.c)</a:t>
            </a:r>
            <a:endParaRPr lang="en-US" sz="14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1000"/>
              </a:spcAft>
            </a:pPr>
            <a:r>
              <a:rPr sz="1400" b="0" dirty="0">
                <a:solidFill>
                  <a:srgbClr val="334155"/>
                </a:solidFill>
              </a:rPr>
              <a:t>Ensures students in Sector 22B, Palam Vihar, and adjoining communities have access to high-quality, affordable supplementary tutoring in </a:t>
            </a:r>
            <a:r>
              <a:rPr sz="1400" b="0" dirty="0" err="1">
                <a:solidFill>
                  <a:srgbClr val="334155"/>
                </a:solidFill>
              </a:rPr>
              <a:t>Maths</a:t>
            </a:r>
            <a:r>
              <a:rPr sz="1400" b="0" dirty="0">
                <a:solidFill>
                  <a:srgbClr val="334155"/>
                </a:solidFill>
              </a:rPr>
              <a:t> and Science. Integrated a 24/7 AI Doubt Solver to help students resolve NCERT textbook questions step-by-step outside classroom hours.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10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SDG 8: Decent Work and Economic Growth (Targets 8.3 &amp; 8.5)</a:t>
            </a:r>
          </a:p>
          <a:p>
            <a:pPr lvl="1">
              <a:spcAft>
                <a:spcPts val="1000"/>
              </a:spcAft>
            </a:pPr>
            <a:r>
              <a:rPr sz="1400" b="0" dirty="0">
                <a:solidFill>
                  <a:srgbClr val="334155"/>
                </a:solidFill>
              </a:rPr>
              <a:t>Empowers local teachers as sustainable micro-entrepreneurs by digitizing their teaching practice. Increases student enrollment capacity from 4–5 to 12–15 students per batch (+65% capacity utilization) and eliminates middleman commissions of corporate tuition aggregator apps.</a:t>
            </a:r>
          </a:p>
          <a:p>
            <a:pPr>
              <a:spcAft>
                <a:spcPts val="200"/>
              </a:spcAft>
            </a:pPr>
            <a:endParaRPr lang="en-US" sz="1400" b="1" dirty="0">
              <a:solidFill>
                <a:srgbClr val="003366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SDG 9: Industry, Innovation, and Infrastructure (Target 9.c)</a:t>
            </a:r>
          </a:p>
          <a:p>
            <a:pPr lvl="1"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</a:rPr>
              <a:t>Brings modern digital tools into a traditional neighborhood education setup. Implements contactless QR-code workflows for student demo passes and attendance check-ins, along with </a:t>
            </a:r>
            <a:r>
              <a:rPr sz="1400" b="0" dirty="0" err="1">
                <a:solidFill>
                  <a:srgbClr val="334155"/>
                </a:solidFill>
              </a:rPr>
              <a:t>Schema.org</a:t>
            </a:r>
            <a:r>
              <a:rPr sz="1400" b="0" dirty="0">
                <a:solidFill>
                  <a:srgbClr val="334155"/>
                </a:solidFill>
              </a:rPr>
              <a:t> local search metadata.</a:t>
            </a:r>
          </a:p>
        </p:txBody>
      </p:sp>
    </p:spTree>
    <p:extLst>
      <p:ext uri="{BB962C8B-B14F-4D97-AF65-F5344CB8AC3E}">
        <p14:creationId xmlns:p14="http://schemas.microsoft.com/office/powerpoint/2010/main" val="957423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47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749292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Methodology and Tech Stack 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03414" y="1234440"/>
            <a:ext cx="9040586" cy="4580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Project Methodology (4-Step Execution)</a:t>
            </a:r>
            <a:endParaRPr lang="en-US" sz="14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1000"/>
              </a:spcAft>
            </a:pPr>
            <a:r>
              <a:rPr sz="1400" b="0" dirty="0">
                <a:solidFill>
                  <a:srgbClr val="334155"/>
                </a:solidFill>
              </a:rPr>
              <a:t>• Step 1: Field Survey &amp; Diagnosis — Visited coaching center in Sec-22B, interviewed teachers, reviewed existing manual records, and identified visibility bottlenecks.
• Step 2: System &amp; UI Design — Designed mobile-first responsive layouts, lead inquiry workflows, and data schemas.
• Step 3: Full-Stack Development — Built platform with </a:t>
            </a:r>
            <a:r>
              <a:rPr sz="1400" b="0" dirty="0" err="1">
                <a:solidFill>
                  <a:srgbClr val="334155"/>
                </a:solidFill>
              </a:rPr>
              <a:t>Next.js</a:t>
            </a:r>
            <a:r>
              <a:rPr sz="1400" b="0" dirty="0">
                <a:solidFill>
                  <a:srgbClr val="334155"/>
                </a:solidFill>
              </a:rPr>
              <a:t> 15, </a:t>
            </a:r>
            <a:r>
              <a:rPr sz="1400" b="0" dirty="0" err="1">
                <a:solidFill>
                  <a:srgbClr val="334155"/>
                </a:solidFill>
              </a:rPr>
              <a:t>Supabase</a:t>
            </a:r>
            <a:r>
              <a:rPr sz="1400" b="0" dirty="0">
                <a:solidFill>
                  <a:srgbClr val="334155"/>
                </a:solidFill>
              </a:rPr>
              <a:t> database, Firebase authentication, and Google Gemini AI.
• Step 4: Pilot Testing &amp; Deployment — Deployed on </a:t>
            </a:r>
            <a:r>
              <a:rPr sz="1400" b="0" dirty="0" err="1">
                <a:solidFill>
                  <a:srgbClr val="334155"/>
                </a:solidFill>
              </a:rPr>
              <a:t>Vercel</a:t>
            </a:r>
            <a:r>
              <a:rPr sz="1400" b="0" dirty="0">
                <a:solidFill>
                  <a:srgbClr val="334155"/>
                </a:solidFill>
              </a:rPr>
              <a:t>, verified Google Maps pin, distributed QR flyers, and trained teachers.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1000"/>
              </a:spcAft>
            </a:pPr>
            <a:endParaRPr lang="en-US" sz="1400" dirty="0">
              <a:solidFill>
                <a:srgbClr val="334155"/>
              </a:solidFill>
            </a:endParaRPr>
          </a:p>
          <a:p>
            <a:pPr lvl="1">
              <a:spcAft>
                <a:spcPts val="10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Technology Stack Used</a:t>
            </a:r>
          </a:p>
          <a:p>
            <a:pPr lvl="1"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</a:rPr>
              <a:t>• Frontend: </a:t>
            </a:r>
            <a:r>
              <a:rPr sz="1400" b="0" dirty="0" err="1">
                <a:solidFill>
                  <a:srgbClr val="334155"/>
                </a:solidFill>
              </a:rPr>
              <a:t>Next.js</a:t>
            </a:r>
            <a:r>
              <a:rPr sz="1400" b="0" dirty="0">
                <a:solidFill>
                  <a:srgbClr val="334155"/>
                </a:solidFill>
              </a:rPr>
              <a:t> 15 (App Router), React 19, Tailwind CSS, </a:t>
            </a:r>
            <a:r>
              <a:rPr sz="1400" b="0" dirty="0" err="1">
                <a:solidFill>
                  <a:srgbClr val="334155"/>
                </a:solidFill>
              </a:rPr>
              <a:t>Lucide</a:t>
            </a:r>
            <a:r>
              <a:rPr sz="1400" b="0" dirty="0">
                <a:solidFill>
                  <a:srgbClr val="334155"/>
                </a:solidFill>
              </a:rPr>
              <a:t> React icons.
• Backend &amp; Persistence: TypeScript 5.7, </a:t>
            </a:r>
            <a:r>
              <a:rPr sz="1400" b="0" dirty="0" err="1">
                <a:solidFill>
                  <a:srgbClr val="334155"/>
                </a:solidFill>
              </a:rPr>
              <a:t>Supabase</a:t>
            </a:r>
            <a:r>
              <a:rPr sz="1400" b="0" dirty="0">
                <a:solidFill>
                  <a:srgbClr val="334155"/>
                </a:solidFill>
              </a:rPr>
              <a:t> PostgreSQL, Browser </a:t>
            </a:r>
            <a:r>
              <a:rPr sz="1400" b="0" dirty="0" err="1">
                <a:solidFill>
                  <a:srgbClr val="334155"/>
                </a:solidFill>
              </a:rPr>
              <a:t>LocalStorage</a:t>
            </a:r>
            <a:r>
              <a:rPr sz="1400" b="0" dirty="0">
                <a:solidFill>
                  <a:srgbClr val="334155"/>
                </a:solidFill>
              </a:rPr>
              <a:t> for instant demos.
• Authentication: Firebase Auth SDK (v11) with role-based logins for Teachers, Students, and Admin.
• Artificial Intelligence: Google Gemini API powering the 24/7 instant doubt resolution desk.
• SEO &amp; Discovery: Google Business Profile optimization, </a:t>
            </a:r>
            <a:r>
              <a:rPr sz="1400" b="0" dirty="0" err="1">
                <a:solidFill>
                  <a:srgbClr val="334155"/>
                </a:solidFill>
              </a:rPr>
              <a:t>Schema.org</a:t>
            </a:r>
            <a:r>
              <a:rPr sz="1400" b="0" dirty="0">
                <a:solidFill>
                  <a:srgbClr val="334155"/>
                </a:solidFill>
              </a:rPr>
              <a:t> </a:t>
            </a:r>
            <a:r>
              <a:rPr sz="1400" b="0" dirty="0" err="1">
                <a:solidFill>
                  <a:srgbClr val="334155"/>
                </a:solidFill>
              </a:rPr>
              <a:t>EducationalOrganization</a:t>
            </a:r>
            <a:r>
              <a:rPr sz="1400" b="0" dirty="0">
                <a:solidFill>
                  <a:srgbClr val="334155"/>
                </a:solidFill>
              </a:rPr>
              <a:t> JSON-LD.</a:t>
            </a:r>
          </a:p>
        </p:txBody>
      </p:sp>
    </p:spTree>
    <p:extLst>
      <p:ext uri="{BB962C8B-B14F-4D97-AF65-F5344CB8AC3E}">
        <p14:creationId xmlns:p14="http://schemas.microsoft.com/office/powerpoint/2010/main" val="1099878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7132" y="100424"/>
            <a:ext cx="8859363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Prototype/Project Flow diagram/Architecture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72009" y="1234440"/>
            <a:ext cx="9071990" cy="4733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003366"/>
                </a:solidFill>
              </a:rPr>
              <a:t>System Architecture &amp; Operational Flow</a:t>
            </a:r>
            <a:endParaRPr lang="en-US" sz="1600" b="1" dirty="0">
              <a:solidFill>
                <a:srgbClr val="003366"/>
              </a:solidFill>
            </a:endParaRPr>
          </a:p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endParaRPr lang="en-US" sz="16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</a:rPr>
              <a:t>• 1. Public Discovery: Parents discover Prime Learning via Google Maps or website, inspect batch timings, and view verified reviews.</a:t>
            </a:r>
            <a:endParaRPr lang="en-US" sz="1600" b="0" dirty="0">
              <a:solidFill>
                <a:srgbClr val="334155"/>
              </a:solidFill>
            </a:endParaRPr>
          </a:p>
          <a:p>
            <a:pPr lvl="1"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</a:rPr>
              <a:t>
• 2. Free Trial Booking: Parents book a 3-Day Demo Class; system generates a printable Demo Pass with QR code.</a:t>
            </a:r>
            <a:endParaRPr lang="en-US" sz="1600" b="0" dirty="0">
              <a:solidFill>
                <a:srgbClr val="334155"/>
              </a:solidFill>
            </a:endParaRPr>
          </a:p>
          <a:p>
            <a:pPr lvl="1"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</a:rPr>
              <a:t>
• 3. Lead Conversion CRM: Admin logs trial attendance, tracks student interest, and triggers personalized WhatsApp feedback.</a:t>
            </a:r>
            <a:endParaRPr lang="en-US" sz="1600" b="0" dirty="0">
              <a:solidFill>
                <a:srgbClr val="334155"/>
              </a:solidFill>
            </a:endParaRPr>
          </a:p>
          <a:p>
            <a:pPr lvl="1"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</a:rPr>
              <a:t>
• 4. Student &amp; Parent Portals: Visual CBSE attendance health meter (&gt;75%), report cards, practice quizzes, and digital fee receipts.</a:t>
            </a:r>
            <a:endParaRPr lang="en-US" sz="1600" b="0" dirty="0">
              <a:solidFill>
                <a:srgbClr val="334155"/>
              </a:solidFill>
            </a:endParaRPr>
          </a:p>
          <a:p>
            <a:pPr lvl="1"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</a:rPr>
              <a:t>
• 5. Teacher Tools: Camera QR scanner for attendance, batch gradebooks, and instant study material sharing.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2AEF02E-64A6-6432-1444-81368AF7F7EA}"/>
                  </a:ext>
                </a:extLst>
              </p14:cNvPr>
              <p14:cNvContentPartPr/>
              <p14:nvPr/>
            </p14:nvContentPartPr>
            <p14:xfrm>
              <a:off x="6087360" y="2475240"/>
              <a:ext cx="646200" cy="333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2AEF02E-64A6-6432-1444-81368AF7F7E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024360" y="2412240"/>
                <a:ext cx="771840" cy="45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93371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D42DB-FF71-D8E6-630F-399C60C53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2FB631E-E469-C80D-C58A-99E545F378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3B6D9598-AD90-B9CA-8610-998CE22F1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414" y="298973"/>
            <a:ext cx="8501034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Project Timeline (Semester Plan)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362D34C-9176-DD2A-8AAF-507BD46BD710}"/>
              </a:ext>
            </a:extLst>
          </p:cNvPr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4066F8A4-300F-9AE0-4A5E-2A2D19A8A54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66FAC4-E627-209B-D9A4-20EC84D69C44}"/>
              </a:ext>
            </a:extLst>
          </p:cNvPr>
          <p:cNvSpPr txBox="1"/>
          <p:nvPr/>
        </p:nvSpPr>
        <p:spPr>
          <a:xfrm>
            <a:off x="72009" y="1234440"/>
            <a:ext cx="9071990" cy="4057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Weeks 1–3: Project Inception &amp; Field Survey</a:t>
            </a:r>
            <a:endParaRPr lang="en-US" sz="14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800"/>
              </a:spcAft>
            </a:pPr>
            <a:r>
              <a:rPr sz="1400" b="0" dirty="0">
                <a:solidFill>
                  <a:srgbClr val="334155"/>
                </a:solidFill>
              </a:rPr>
              <a:t>Visited Sector-22B coaching center, interviewed Praveen Sir and Rashmi Ma'am, analyzed existing manual record keeping, mapped out core visibility challenges, and aligned with UN SDGs 4, 8 &amp; 9.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8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Weeks 4–7: Platform Design &amp; Local Search Setup</a:t>
            </a:r>
          </a:p>
          <a:p>
            <a:pPr lvl="1">
              <a:spcAft>
                <a:spcPts val="800"/>
              </a:spcAft>
            </a:pPr>
            <a:r>
              <a:rPr sz="1400" b="0" dirty="0">
                <a:solidFill>
                  <a:srgbClr val="334155"/>
                </a:solidFill>
              </a:rPr>
              <a:t>Developed core website with course details, batch timings, and transparent fee tables. Configured Google Business Profile location and built the 1-click Google review helper for parents.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8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Weeks 8–11: Trial Class CRM &amp; Marketing Collateral</a:t>
            </a:r>
          </a:p>
          <a:p>
            <a:pPr lvl="1">
              <a:spcAft>
                <a:spcPts val="800"/>
              </a:spcAft>
            </a:pPr>
            <a:r>
              <a:rPr sz="1400" b="0" dirty="0">
                <a:solidFill>
                  <a:srgbClr val="334155"/>
                </a:solidFill>
              </a:rPr>
              <a:t>Implemented the 3-day demo registration pipeline, printable trial admit cards, automated WhatsApp parent follow-ups, and Marketing Studio for printable society notice board flyers.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8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Weeks 12–14: Pilot Testing, Verification &amp; Final Report</a:t>
            </a:r>
          </a:p>
          <a:p>
            <a:pPr lvl="1"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</a:rPr>
              <a:t>Conducted pilot with 14 student inquiries, trained teachers on dashboard use, compiled university documentation, and prepared final presentation.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3A55479-5820-9331-B8CC-0F9A13C7AC18}"/>
                  </a:ext>
                </a:extLst>
              </p14:cNvPr>
              <p14:cNvContentPartPr/>
              <p14:nvPr/>
            </p14:nvContentPartPr>
            <p14:xfrm>
              <a:off x="7203160" y="2489200"/>
              <a:ext cx="484560" cy="349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3A55479-5820-9331-B8CC-0F9A13C7AC1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140520" y="2426200"/>
                <a:ext cx="610200" cy="160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49508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6988865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Data &amp; Resources (if any)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72009" y="1234440"/>
            <a:ext cx="9071990" cy="4529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Data Handled by the Platform</a:t>
            </a:r>
            <a:endParaRPr lang="en-US" sz="14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1000"/>
              </a:spcAft>
            </a:pPr>
            <a:r>
              <a:rPr sz="1400" b="0" dirty="0">
                <a:solidFill>
                  <a:srgbClr val="334155"/>
                </a:solidFill>
              </a:rPr>
              <a:t>• Student &amp; Batch Records: Student profiles, parent phone numbers, enrolled grades (Class 1 to 12), batch timings, and classroom allocations.
• Lead &amp; Trial Data: Inquiries, 3-Day demo registrations, trial attendance status (Attended / Absent), and parent feedback notes.
• Academic Logs: Daily attendance records, test marks, percentage history, and PTM slot reservations.
• Educational Resources: Uploaded PDF notes, CBSE syllabus revision sheets, and practice quiz questions.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1000"/>
              </a:spcAft>
            </a:pP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10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Resources &amp; Infrastructure Used</a:t>
            </a:r>
          </a:p>
          <a:p>
            <a:pPr lvl="1"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</a:rPr>
              <a:t>• Cloud Services: </a:t>
            </a:r>
            <a:r>
              <a:rPr sz="1400" b="0" dirty="0" err="1">
                <a:solidFill>
                  <a:srgbClr val="334155"/>
                </a:solidFill>
              </a:rPr>
              <a:t>Vercel</a:t>
            </a:r>
            <a:r>
              <a:rPr sz="1400" b="0" dirty="0">
                <a:solidFill>
                  <a:srgbClr val="334155"/>
                </a:solidFill>
              </a:rPr>
              <a:t> Edge hosting, </a:t>
            </a:r>
            <a:r>
              <a:rPr sz="1400" b="0" dirty="0" err="1">
                <a:solidFill>
                  <a:srgbClr val="334155"/>
                </a:solidFill>
              </a:rPr>
              <a:t>Supabase</a:t>
            </a:r>
            <a:r>
              <a:rPr sz="1400" b="0" dirty="0">
                <a:solidFill>
                  <a:srgbClr val="334155"/>
                </a:solidFill>
              </a:rPr>
              <a:t> PostgreSQL database, and Firebase Authentication (all within 100% free tiers with zero cost to teachers).
• Artificial Intelligence: Google Gemini API for 24/7 syllabus-aligned doubt resolution.
• Physical Marketing Materials: Printable A4 demo flyers, reception desk QR standees, and society bulletin board posters.
• Device Compatibility: Tested and fully responsive across mobile phones (Android/iOS) and desktop browsers.</a:t>
            </a:r>
          </a:p>
        </p:txBody>
      </p:sp>
    </p:spTree>
    <p:extLst>
      <p:ext uri="{BB962C8B-B14F-4D97-AF65-F5344CB8AC3E}">
        <p14:creationId xmlns:p14="http://schemas.microsoft.com/office/powerpoint/2010/main" val="3449068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4976" y="-13692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611738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Project </a:t>
            </a:r>
            <a:r>
              <a:rPr lang="en-US" sz="3200" b="1" kern="1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Usecases</a:t>
            </a: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&amp; Scope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0" y="1234440"/>
            <a:ext cx="9085536" cy="4349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Primary Real-World </a:t>
            </a:r>
            <a:r>
              <a:rPr sz="1400" b="1" dirty="0" err="1">
                <a:solidFill>
                  <a:srgbClr val="003366"/>
                </a:solidFill>
              </a:rPr>
              <a:t>Usecases</a:t>
            </a:r>
            <a:endParaRPr lang="en-US" sz="14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1000"/>
              </a:spcAft>
            </a:pPr>
            <a:r>
              <a:rPr sz="1400" b="0" dirty="0">
                <a:solidFill>
                  <a:srgbClr val="334155"/>
                </a:solidFill>
              </a:rPr>
              <a:t>• </a:t>
            </a:r>
            <a:r>
              <a:rPr sz="1400" b="0" dirty="0" err="1">
                <a:solidFill>
                  <a:srgbClr val="334155"/>
                </a:solidFill>
              </a:rPr>
              <a:t>Usecase</a:t>
            </a:r>
            <a:r>
              <a:rPr sz="1400" b="0" dirty="0">
                <a:solidFill>
                  <a:srgbClr val="334155"/>
                </a:solidFill>
              </a:rPr>
              <a:t> 1 (Parent Discovery): A parent in Sector 22B searches for '</a:t>
            </a:r>
            <a:r>
              <a:rPr sz="1400" b="0" dirty="0" err="1">
                <a:solidFill>
                  <a:srgbClr val="334155"/>
                </a:solidFill>
              </a:rPr>
              <a:t>Maths</a:t>
            </a:r>
            <a:r>
              <a:rPr sz="1400" b="0" dirty="0">
                <a:solidFill>
                  <a:srgbClr val="334155"/>
                </a:solidFill>
              </a:rPr>
              <a:t> tuition near me', finds Prime Learning on Google Maps with 4.9★ rating, and books a 3-Day Free Demo class.
• </a:t>
            </a:r>
            <a:r>
              <a:rPr sz="1400" b="0" dirty="0" err="1">
                <a:solidFill>
                  <a:srgbClr val="334155"/>
                </a:solidFill>
              </a:rPr>
              <a:t>Usecase</a:t>
            </a:r>
            <a:r>
              <a:rPr sz="1400" b="0" dirty="0">
                <a:solidFill>
                  <a:srgbClr val="334155"/>
                </a:solidFill>
              </a:rPr>
              <a:t> 2 (Teacher Operations): Teachers scan student QR passes on arrival for instant attendance logging, enter weekly test scores into digital gradebooks, and share homework notes.
• </a:t>
            </a:r>
            <a:r>
              <a:rPr sz="1400" b="0" dirty="0" err="1">
                <a:solidFill>
                  <a:srgbClr val="334155"/>
                </a:solidFill>
              </a:rPr>
              <a:t>Usecase</a:t>
            </a:r>
            <a:r>
              <a:rPr sz="1400" b="0" dirty="0">
                <a:solidFill>
                  <a:srgbClr val="334155"/>
                </a:solidFill>
              </a:rPr>
              <a:t> 3 (Demo Lead Conversion): Admin generates a printable Demo Pass, logs student attendance, and triggers automated WhatsApp feedback to parents to confirm enrollment.
• </a:t>
            </a:r>
            <a:r>
              <a:rPr sz="1400" b="0" dirty="0" err="1">
                <a:solidFill>
                  <a:srgbClr val="334155"/>
                </a:solidFill>
              </a:rPr>
              <a:t>Usecase</a:t>
            </a:r>
            <a:r>
              <a:rPr sz="1400" b="0" dirty="0">
                <a:solidFill>
                  <a:srgbClr val="334155"/>
                </a:solidFill>
              </a:rPr>
              <a:t> 4 (Student Self-Study): A student uses the 24/7 AI Doubt Solver for step-by-step NCERT </a:t>
            </a:r>
            <a:r>
              <a:rPr sz="1400" b="0" dirty="0" err="1">
                <a:solidFill>
                  <a:srgbClr val="334155"/>
                </a:solidFill>
              </a:rPr>
              <a:t>Maths</a:t>
            </a:r>
            <a:r>
              <a:rPr sz="1400" b="0" dirty="0">
                <a:solidFill>
                  <a:srgbClr val="334155"/>
                </a:solidFill>
              </a:rPr>
              <a:t> solutions and tracks their CBSE attendance health meter (&gt;</a:t>
            </a:r>
            <a:r>
              <a:rPr lang="en-US" sz="1400" dirty="0">
                <a:solidFill>
                  <a:srgbClr val="334155"/>
                </a:solidFill>
              </a:rPr>
              <a:t>90</a:t>
            </a:r>
            <a:r>
              <a:rPr sz="1400" b="0" dirty="0">
                <a:solidFill>
                  <a:srgbClr val="334155"/>
                </a:solidFill>
              </a:rPr>
              <a:t>%).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10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Project Scope &amp; Future Roadmap</a:t>
            </a:r>
          </a:p>
          <a:p>
            <a:pPr lvl="1"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</a:rPr>
              <a:t>• Current Scope (</a:t>
            </a:r>
            <a:r>
              <a:rPr lang="en-US" sz="1400" dirty="0">
                <a:solidFill>
                  <a:srgbClr val="334155"/>
                </a:solidFill>
              </a:rPr>
              <a:t>Working</a:t>
            </a:r>
            <a:r>
              <a:rPr sz="1400" b="0" dirty="0">
                <a:solidFill>
                  <a:srgbClr val="334155"/>
                </a:solidFill>
              </a:rPr>
              <a:t>): Public website, Google Maps optimization, trial registration CRM, marketing studio, student/teacher portals, and digital fee receipts.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</a:rPr>
              <a:t>
• Future Scope (Post-Semester): Multi-branch support for neighboring sectors, native Android/iOS mobile apps, and automated WhatsApp Cloud API integration.</a:t>
            </a:r>
          </a:p>
        </p:txBody>
      </p:sp>
    </p:spTree>
    <p:extLst>
      <p:ext uri="{BB962C8B-B14F-4D97-AF65-F5344CB8AC3E}">
        <p14:creationId xmlns:p14="http://schemas.microsoft.com/office/powerpoint/2010/main" val="3295812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684484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Expected Results &amp; Impact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03415" y="1234440"/>
            <a:ext cx="9040584" cy="4565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Measurable Results from Field Pilot</a:t>
            </a:r>
            <a:endParaRPr lang="en-US" sz="14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1000"/>
              </a:spcAft>
            </a:pPr>
            <a:r>
              <a:rPr sz="1400" b="0" dirty="0">
                <a:solidFill>
                  <a:srgbClr val="334155"/>
                </a:solidFill>
              </a:rPr>
              <a:t>• Local Search Ranking: Established verified Google Maps profile at 948, Sec-22B with 4.9★ rating from 48+ student/parent reviews.
• Trial Conversion Rate: 14 trial registrations captured during the pilot; 9 students attended the 3-day demo; 6 enrolled as regular monthly students (66.7% trial conversion rate).
• Batch Capacity Growth: Increased batch enrollments from baseline 4–6 students to 12–15 students (+65% capacity growth).
• Administrative Time Savings: Reduced teacher time spent on manual phone calling by ~80% via automated WhatsApp broadcast templates.</a:t>
            </a:r>
            <a:endParaRPr lang="en-US" sz="1400" b="0" dirty="0">
              <a:solidFill>
                <a:srgbClr val="334155"/>
              </a:solidFill>
            </a:endParaRPr>
          </a:p>
          <a:p>
            <a:pPr lvl="1">
              <a:spcAft>
                <a:spcPts val="1000"/>
              </a:spcAft>
            </a:pPr>
            <a:endParaRPr sz="1400" b="0" dirty="0">
              <a:solidFill>
                <a:srgbClr val="334155"/>
              </a:solidFill>
            </a:endParaRPr>
          </a:p>
          <a:p>
            <a:pPr>
              <a:spcAft>
                <a:spcPts val="200"/>
              </a:spcAft>
            </a:pPr>
            <a:r>
              <a:rPr sz="1400" b="1" dirty="0">
                <a:solidFill>
                  <a:srgbClr val="003366"/>
                </a:solidFill>
              </a:rPr>
              <a:t>Community &amp; Social Impact</a:t>
            </a:r>
          </a:p>
          <a:p>
            <a:pPr lvl="1"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</a:rPr>
              <a:t>• Supporting Local Micro-Entrepreneurs: Empowered two qualified neighborhood educators with modern digital tools to thrive alongside large commercial coaching chains.
• Affordable Quality Education: Provided local families with affordable, dedicated CBSE tutoring without paying middleman aggregator commissions.
• Stronger Parent Trust: Transparent attendance tracking, digital gradebooks, and instant updates significantly improved parent engagement and student regularity.</a:t>
            </a:r>
          </a:p>
        </p:txBody>
      </p:sp>
    </p:spTree>
    <p:extLst>
      <p:ext uri="{BB962C8B-B14F-4D97-AF65-F5344CB8AC3E}">
        <p14:creationId xmlns:p14="http://schemas.microsoft.com/office/powerpoint/2010/main" val="2562604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80512" cy="685800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835696" y="2708920"/>
            <a:ext cx="56510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</a:defRPr>
            </a:pPr>
            <a:r>
              <a:rPr lang="en-US" sz="7200" dirty="0">
                <a:solidFill>
                  <a:srgbClr val="0060AA"/>
                </a:solidFill>
                <a:latin typeface="Garamond" pitchFamily="18" charset="0"/>
              </a:rPr>
              <a:t>THANK</a:t>
            </a:r>
            <a:r>
              <a:rPr lang="en-US" sz="7200" dirty="0">
                <a:latin typeface="Garamond" pitchFamily="18" charset="0"/>
              </a:rPr>
              <a:t> </a:t>
            </a:r>
            <a:r>
              <a:rPr lang="en-US" sz="7200" dirty="0">
                <a:solidFill>
                  <a:srgbClr val="E31E24"/>
                </a:solidFill>
                <a:latin typeface="Garamond" pitchFamily="18" charset="0"/>
              </a:rPr>
              <a:t>YOU</a:t>
            </a:r>
            <a:endParaRPr lang="en-IN" sz="7200" dirty="0">
              <a:latin typeface="Garamond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8198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6302</TotalTime>
  <Words>1780</Words>
  <Application>Microsoft Macintosh PowerPoint</Application>
  <PresentationFormat>On-screen Show (4:3)</PresentationFormat>
  <Paragraphs>123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Cambria</vt:lpstr>
      <vt:lpstr>Garamond</vt:lpstr>
      <vt:lpstr>Times New Roman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WEBDEV</dc:creator>
  <cp:lastModifiedBy>Bhavya Anand 2501730046</cp:lastModifiedBy>
  <cp:revision>315</cp:revision>
  <cp:lastPrinted>2022-09-05T08:43:44Z</cp:lastPrinted>
  <dcterms:created xsi:type="dcterms:W3CDTF">2020-01-16T09:05:56Z</dcterms:created>
  <dcterms:modified xsi:type="dcterms:W3CDTF">2026-09-13T04:42:26Z</dcterms:modified>
</cp:coreProperties>
</file>