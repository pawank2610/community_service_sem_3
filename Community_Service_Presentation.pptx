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5" r:id="rId7"/>
    <p:sldId id="503" r:id="rId8"/>
    <p:sldId id="507" r:id="rId9"/>
    <p:sldId id="504" r:id="rId10"/>
    <p:sldId id="502" r:id="rId11"/>
    <p:sldId id="506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8A3AB1-3A5C-4287-9AA8-685D10062621}" v="8" dt="2026-08-14T09:40:01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93" autoAdjust="0"/>
    <p:restoredTop sz="94681"/>
  </p:normalViewPr>
  <p:slideViewPr>
    <p:cSldViewPr>
      <p:cViewPr varScale="1">
        <p:scale>
          <a:sx n="83" d="100"/>
          <a:sy n="83" d="100"/>
        </p:scale>
        <p:origin x="609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ti Yadav" userId="8da2e7729ab2cedd" providerId="LiveId" clId="{741A7A88-242A-459A-A359-2627301AD1E9}"/>
    <pc:docChg chg="undo custSel addSld delSld modSld">
      <pc:chgData name="Jyoti Yadav" userId="8da2e7729ab2cedd" providerId="LiveId" clId="{741A7A88-242A-459A-A359-2627301AD1E9}" dt="2026-08-14T17:04:29.606" v="133" actId="2161"/>
      <pc:docMkLst>
        <pc:docMk/>
      </pc:docMkLst>
      <pc:sldChg chg="modSp mod">
        <pc:chgData name="Jyoti Yadav" userId="8da2e7729ab2cedd" providerId="LiveId" clId="{741A7A88-242A-459A-A359-2627301AD1E9}" dt="2026-08-14T17:04:29.606" v="133" actId="2161"/>
        <pc:sldMkLst>
          <pc:docMk/>
          <pc:sldMk cId="4142536426" sldId="497"/>
        </pc:sldMkLst>
        <pc:spChg chg="mod">
          <ac:chgData name="Jyoti Yadav" userId="8da2e7729ab2cedd" providerId="LiveId" clId="{741A7A88-242A-459A-A359-2627301AD1E9}" dt="2026-08-14T17:03:48.917" v="130" actId="20577"/>
          <ac:spMkLst>
            <pc:docMk/>
            <pc:sldMk cId="4142536426" sldId="497"/>
            <ac:spMk id="13" creationId="{00000000-0000-0000-0000-000000000000}"/>
          </ac:spMkLst>
        </pc:spChg>
        <pc:graphicFrameChg chg="modGraphic">
          <ac:chgData name="Jyoti Yadav" userId="8da2e7729ab2cedd" providerId="LiveId" clId="{741A7A88-242A-459A-A359-2627301AD1E9}" dt="2026-08-14T17:04:29.606" v="133" actId="2161"/>
          <ac:graphicFrameMkLst>
            <pc:docMk/>
            <pc:sldMk cId="4142536426" sldId="497"/>
            <ac:graphicFrameMk id="2" creationId="{232DFD41-0025-28B4-FE3B-A54FAEE28F42}"/>
          </ac:graphicFrameMkLst>
        </pc:graphicFrameChg>
      </pc:sldChg>
      <pc:sldChg chg="modSp mod">
        <pc:chgData name="Jyoti Yadav" userId="8da2e7729ab2cedd" providerId="LiveId" clId="{741A7A88-242A-459A-A359-2627301AD1E9}" dt="2026-08-14T09:37:00.209" v="34" actId="14100"/>
        <pc:sldMkLst>
          <pc:docMk/>
          <pc:sldMk cId="3353784259" sldId="499"/>
        </pc:sldMkLst>
        <pc:spChg chg="mod">
          <ac:chgData name="Jyoti Yadav" userId="8da2e7729ab2cedd" providerId="LiveId" clId="{741A7A88-242A-459A-A359-2627301AD1E9}" dt="2026-08-14T09:37:00.209" v="34" actId="14100"/>
          <ac:spMkLst>
            <pc:docMk/>
            <pc:sldMk cId="3353784259" sldId="499"/>
            <ac:spMk id="5" creationId="{00000000-0000-0000-0000-000000000000}"/>
          </ac:spMkLst>
        </pc:spChg>
      </pc:sldChg>
      <pc:sldChg chg="modSp mod">
        <pc:chgData name="Jyoti Yadav" userId="8da2e7729ab2cedd" providerId="LiveId" clId="{741A7A88-242A-459A-A359-2627301AD1E9}" dt="2026-08-14T09:41:09.858" v="116" actId="20577"/>
        <pc:sldMkLst>
          <pc:docMk/>
          <pc:sldMk cId="1047329288" sldId="500"/>
        </pc:sldMkLst>
        <pc:spChg chg="mod">
          <ac:chgData name="Jyoti Yadav" userId="8da2e7729ab2cedd" providerId="LiveId" clId="{741A7A88-242A-459A-A359-2627301AD1E9}" dt="2026-08-14T09:41:09.858" v="116" actId="20577"/>
          <ac:spMkLst>
            <pc:docMk/>
            <pc:sldMk cId="1047329288" sldId="500"/>
            <ac:spMk id="5" creationId="{00000000-0000-0000-0000-000000000000}"/>
          </ac:spMkLst>
        </pc:spChg>
        <pc:picChg chg="mod">
          <ac:chgData name="Jyoti Yadav" userId="8da2e7729ab2cedd" providerId="LiveId" clId="{741A7A88-242A-459A-A359-2627301AD1E9}" dt="2026-08-14T09:40:40.069" v="101" actId="1076"/>
          <ac:picMkLst>
            <pc:docMk/>
            <pc:sldMk cId="1047329288" sldId="500"/>
            <ac:picMk id="4" creationId="{00000000-0000-0000-0000-000000000000}"/>
          </ac:picMkLst>
        </pc:picChg>
        <pc:cxnChg chg="mod">
          <ac:chgData name="Jyoti Yadav" userId="8da2e7729ab2cedd" providerId="LiveId" clId="{741A7A88-242A-459A-A359-2627301AD1E9}" dt="2026-08-14T09:40:50.224" v="103" actId="1076"/>
          <ac:cxnSpMkLst>
            <pc:docMk/>
            <pc:sldMk cId="1047329288" sldId="500"/>
            <ac:cxnSpMk id="7" creationId="{00000000-0000-0000-0000-000000000000}"/>
          </ac:cxnSpMkLst>
        </pc:cxnChg>
      </pc:sldChg>
      <pc:sldChg chg="modSp mod">
        <pc:chgData name="Jyoti Yadav" userId="8da2e7729ab2cedd" providerId="LiveId" clId="{741A7A88-242A-459A-A359-2627301AD1E9}" dt="2026-08-14T09:41:21.217" v="117" actId="255"/>
        <pc:sldMkLst>
          <pc:docMk/>
          <pc:sldMk cId="957423197" sldId="501"/>
        </pc:sldMkLst>
        <pc:spChg chg="mod">
          <ac:chgData name="Jyoti Yadav" userId="8da2e7729ab2cedd" providerId="LiveId" clId="{741A7A88-242A-459A-A359-2627301AD1E9}" dt="2026-08-14T09:41:21.217" v="117" actId="255"/>
          <ac:spMkLst>
            <pc:docMk/>
            <pc:sldMk cId="957423197" sldId="501"/>
            <ac:spMk id="5" creationId="{00000000-0000-0000-0000-000000000000}"/>
          </ac:spMkLst>
        </pc:spChg>
      </pc:sldChg>
      <pc:sldChg chg="modSp">
        <pc:chgData name="Jyoti Yadav" userId="8da2e7729ab2cedd" providerId="LiveId" clId="{741A7A88-242A-459A-A359-2627301AD1E9}" dt="2026-08-14T09:37:37.531" v="36" actId="14100"/>
        <pc:sldMkLst>
          <pc:docMk/>
          <pc:sldMk cId="2093371696" sldId="503"/>
        </pc:sldMkLst>
        <pc:spChg chg="mod">
          <ac:chgData name="Jyoti Yadav" userId="8da2e7729ab2cedd" providerId="LiveId" clId="{741A7A88-242A-459A-A359-2627301AD1E9}" dt="2026-08-14T09:37:37.531" v="36" actId="14100"/>
          <ac:spMkLst>
            <pc:docMk/>
            <pc:sldMk cId="2093371696" sldId="503"/>
            <ac:spMk id="5" creationId="{00000000-0000-0000-0000-000000000000}"/>
          </ac:spMkLst>
        </pc:spChg>
      </pc:sldChg>
      <pc:sldChg chg="modSp mod">
        <pc:chgData name="Jyoti Yadav" userId="8da2e7729ab2cedd" providerId="LiveId" clId="{741A7A88-242A-459A-A359-2627301AD1E9}" dt="2026-08-14T09:36:16.877" v="30" actId="20577"/>
        <pc:sldMkLst>
          <pc:docMk/>
          <pc:sldMk cId="3449068858" sldId="504"/>
        </pc:sldMkLst>
        <pc:spChg chg="mod">
          <ac:chgData name="Jyoti Yadav" userId="8da2e7729ab2cedd" providerId="LiveId" clId="{741A7A88-242A-459A-A359-2627301AD1E9}" dt="2026-08-14T09:36:16.877" v="30" actId="20577"/>
          <ac:spMkLst>
            <pc:docMk/>
            <pc:sldMk cId="3449068858" sldId="504"/>
            <ac:spMk id="5" creationId="{00000000-0000-0000-0000-000000000000}"/>
          </ac:spMkLst>
        </pc:spChg>
      </pc:sldChg>
      <pc:sldChg chg="modSp mod">
        <pc:chgData name="Jyoti Yadav" userId="8da2e7729ab2cedd" providerId="LiveId" clId="{741A7A88-242A-459A-A359-2627301AD1E9}" dt="2026-08-14T09:35:40.835" v="20" actId="14100"/>
        <pc:sldMkLst>
          <pc:docMk/>
          <pc:sldMk cId="3449508277" sldId="507"/>
        </pc:sldMkLst>
        <pc:spChg chg="mod">
          <ac:chgData name="Jyoti Yadav" userId="8da2e7729ab2cedd" providerId="LiveId" clId="{741A7A88-242A-459A-A359-2627301AD1E9}" dt="2026-08-14T09:35:40.835" v="20" actId="14100"/>
          <ac:spMkLst>
            <pc:docMk/>
            <pc:sldMk cId="3449508277" sldId="507"/>
            <ac:spMk id="5" creationId="{3B6D9598-AD90-B9CA-8610-998CE22F1CA3}"/>
          </ac:spMkLst>
        </pc:spChg>
      </pc:sldChg>
      <pc:sldChg chg="del">
        <pc:chgData name="Jyoti Yadav" userId="8da2e7729ab2cedd" providerId="LiveId" clId="{741A7A88-242A-459A-A359-2627301AD1E9}" dt="2026-08-14T09:34:54.017" v="0" actId="47"/>
        <pc:sldMkLst>
          <pc:docMk/>
          <pc:sldMk cId="292643029" sldId="508"/>
        </pc:sldMkLst>
      </pc:sldChg>
      <pc:sldChg chg="modSp add del mod">
        <pc:chgData name="Jyoti Yadav" userId="8da2e7729ab2cedd" providerId="LiveId" clId="{741A7A88-242A-459A-A359-2627301AD1E9}" dt="2026-08-14T09:39:14.658" v="60" actId="47"/>
        <pc:sldMkLst>
          <pc:docMk/>
          <pc:sldMk cId="3219318963" sldId="508"/>
        </pc:sldMkLst>
        <pc:spChg chg="mod">
          <ac:chgData name="Jyoti Yadav" userId="8da2e7729ab2cedd" providerId="LiveId" clId="{741A7A88-242A-459A-A359-2627301AD1E9}" dt="2026-08-14T09:38:37.693" v="59" actId="207"/>
          <ac:spMkLst>
            <pc:docMk/>
            <pc:sldMk cId="3219318963" sldId="508"/>
            <ac:spMk id="5" creationId="{4A008BBA-F1B0-E3BE-4016-1FD9281CD3B9}"/>
          </ac:spMkLst>
        </pc:spChg>
        <pc:picChg chg="mod">
          <ac:chgData name="Jyoti Yadav" userId="8da2e7729ab2cedd" providerId="LiveId" clId="{741A7A88-242A-459A-A359-2627301AD1E9}" dt="2026-08-14T09:38:33.516" v="58" actId="1076"/>
          <ac:picMkLst>
            <pc:docMk/>
            <pc:sldMk cId="3219318963" sldId="508"/>
            <ac:picMk id="4" creationId="{9804EFDB-BB67-D8F6-BB7B-DD42242312AE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customXml" Target="../ink/ink1.xml"/><Relationship Id="rId7" Type="http://schemas.openxmlformats.org/officeDocument/2006/relationships/image" Target="../media/image6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customXml" Target="../ink/ink2.xml"/><Relationship Id="rId7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Second Year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070875"/>
              </p:ext>
            </p:extLst>
          </p:nvPr>
        </p:nvGraphicFramePr>
        <p:xfrm>
          <a:off x="1670447" y="3505366"/>
          <a:ext cx="6096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70C0"/>
                          </a:solidFill>
                        </a:defRPr>
                      </a:pPr>
                      <a:r>
                        <a:t>ROLL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70C0"/>
                          </a:solidFill>
                        </a:defRPr>
                      </a:pPr>
                      <a:r>
                        <a:t>STUDENT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E293B"/>
                          </a:solidFill>
                        </a:defRPr>
                      </a:pPr>
                      <a:r>
                        <a:t>23BCE10426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E293B"/>
                          </a:solidFill>
                        </a:defRPr>
                      </a:pPr>
                      <a:r>
                        <a:t>Bhavya Anand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6452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8904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2346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414310" y="1372508"/>
            <a:ext cx="66082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  <a:defRPr sz="2400" b="1">
                <a:solidFill>
                  <a:srgbClr val="C00000"/>
                </a:solidFill>
              </a:defRPr>
            </a:pPr>
            <a:r>
              <a:t>Digital Transformation &amp; Visibility Enhancement</a:t>
            </a:r>
            <a:br/>
            <a:r>
              <a:t>for Local Coaching Educators</a:t>
            </a:r>
          </a:p>
          <a:p>
            <a:pPr algn="ctr">
              <a:defRPr sz="1300" b="0">
                <a:solidFill>
                  <a:srgbClr val="475569"/>
                </a:solidFill>
              </a:defRPr>
            </a:pPr>
            <a:r>
              <a:t>A Community Service Initiative for Prime Learning Classes, Sec-22B, Gurugram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  <a:defRPr b="1" sz="1500">
                <a:solidFill>
                  <a:srgbClr val="0070C0"/>
                </a:solidFill>
              </a:defRPr>
            </a:pPr>
            <a:r>
              <a:t>Faculty Mentor: Department Community Service Coordinator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90038"/>
            <a:ext cx="926616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4000" b="1" dirty="0"/>
              <a:t>Problem Statement &amp; Community Context</a:t>
            </a:r>
            <a:endParaRPr lang="en-IN" sz="4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234440"/>
            <a:ext cx="3977639" cy="466344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070C0"/>
                </a:solidFill>
              </a:defRPr>
            </a:pPr>
            <a:r>
              <a:t>🏢 Community Context &amp; Beneficiary Profile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Target Organisation: </a:t>
            </a:r>
            <a:r>
              <a:rPr b="0" sz="1000">
                <a:solidFill>
                  <a:srgbClr val="334155"/>
                </a:solidFill>
              </a:rPr>
              <a:t>Prime Learning Classes, a neighborhood tutoring center located at 948, Sec-22B, Near Anand Farm, Gurugram, Haryana.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Beneficiary Educators: </a:t>
            </a:r>
            <a:r>
              <a:rPr b="0" sz="1000">
                <a:solidFill>
                  <a:srgbClr val="334155"/>
                </a:solidFill>
              </a:rPr>
              <a:t>Two passionate, highly qualified local teachers:
  • Praveen Gandhi: M.Sc. Maths, B.Ed. (12+ Years Teaching Experience)
  • Rashmi Anand: M.Sc. Organic Chemistry, B.Sc. Hons (10+ Years Experience)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Academic Focus: </a:t>
            </a:r>
            <a:r>
              <a:rPr b="0" sz="1000">
                <a:solidFill>
                  <a:srgbClr val="334155"/>
                </a:solidFill>
              </a:rPr>
              <a:t>Class 1–12 CBSE Mathematics, General Science, and Chemistry coaching with strong emphasis on foundational concept clarity.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Target Student Demographics: </a:t>
            </a:r>
            <a:r>
              <a:rPr b="0" sz="1000">
                <a:solidFill>
                  <a:srgbClr val="334155"/>
                </a:solidFill>
              </a:rPr>
              <a:t>School students from Sector-22B, Sector-22A, Sector-21, Palam Vihar, and adjoining communities (Dundahera, Carterpuri).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Baseline Situation: </a:t>
            </a:r>
            <a:r>
              <a:rPr b="0" sz="1000">
                <a:solidFill>
                  <a:srgbClr val="334155"/>
                </a:solidFill>
              </a:rPr>
              <a:t>Exceptional classroom teaching quality and 98% board pass track record, but strictly confined to a narrow offline word-of-mouth radius.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234440"/>
            <a:ext cx="3977639" cy="466344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C00000"/>
                </a:solidFill>
              </a:defRPr>
            </a:pPr>
            <a:r>
              <a:t>⚠️ Problem Identification &amp; Critical Gaps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Word-of-Mouth Bottleneck: </a:t>
            </a:r>
            <a:r>
              <a:rPr b="0" sz="1000">
                <a:solidFill>
                  <a:srgbClr val="334155"/>
                </a:solidFill>
              </a:rPr>
              <a:t>Complete reliance on traditional word-of-mouth promotion led to stagnant student intake despite growing residential population.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Zero Online Visibility: </a:t>
            </a:r>
            <a:r>
              <a:rPr b="0" sz="1000">
                <a:solidFill>
                  <a:srgbClr val="334155"/>
                </a:solidFill>
              </a:rPr>
              <a:t>Totally absent from Google Maps and local search queries ('coaching near me Gurgaon Sec-22B'), losing prospective students to commercial chains.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Underutilized Infrastructure: </a:t>
            </a:r>
            <a:r>
              <a:rPr b="0" sz="1000">
                <a:solidFill>
                  <a:srgbClr val="334155"/>
                </a:solidFill>
              </a:rPr>
              <a:t>Average batch enrollments of only 4–6 students against an available classroom capacity of 15 students per batch.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Inquiry &amp; Demo Class Leakage: </a:t>
            </a:r>
            <a:r>
              <a:rPr b="0" sz="1000">
                <a:solidFill>
                  <a:srgbClr val="334155"/>
                </a:solidFill>
              </a:rPr>
              <a:t>No systematic CRM. Prospective student leads and free demo classes were logged informally on paper without structured follow-ups.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The Core Need: </a:t>
            </a:r>
            <a:r>
              <a:rPr b="0" sz="1000">
                <a:solidFill>
                  <a:srgbClr val="334155"/>
                </a:solidFill>
              </a:rPr>
              <a:t>An affordable, end-to-end digital ecosystem that bridges qualified neighborhood educators with parents seeking personalized, budget-friendly tutoring.</a:t>
            </a: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433182"/>
            <a:ext cx="932452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US" sz="3600" b="1" kern="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SzPct val="25000"/>
            </a:pPr>
            <a:r>
              <a:rPr lang="en-US" sz="3600" b="1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 of Project / </a:t>
            </a:r>
          </a:p>
          <a:p>
            <a:pPr lvl="0">
              <a:buSzPct val="25000"/>
            </a:pPr>
            <a:r>
              <a:rPr lang="en-US" sz="3600" b="1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Requirements of </a:t>
            </a:r>
            <a:r>
              <a:rPr lang="en-US" sz="3600" b="1" kern="1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Organisation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383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234440"/>
            <a:ext cx="3977639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070C0"/>
                </a:solidFill>
              </a:defRPr>
            </a:pPr>
            <a:r>
              <a:t>🎯 Specific Project Objectives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Establish Digital Identity: </a:t>
            </a:r>
            <a:r>
              <a:rPr b="0" sz="1000">
                <a:solidFill>
                  <a:srgbClr val="334155"/>
                </a:solidFill>
              </a:rPr>
              <a:t>Develop a responsive institutional web portal and verified Google Business Profile to capture local high-intent search traffic.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Streamline Lead Funnel: </a:t>
            </a:r>
            <a:r>
              <a:rPr b="0" sz="1000">
                <a:solidFill>
                  <a:srgbClr val="334155"/>
                </a:solidFill>
              </a:rPr>
              <a:t>Create frictionless online inquiry forms and a 3-Day Free Demo Class registration pipeline.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Maximize Demo Conversion: </a:t>
            </a:r>
            <a:r>
              <a:rPr b="0" sz="1000">
                <a:solidFill>
                  <a:srgbClr val="334155"/>
                </a:solidFill>
              </a:rPr>
              <a:t>Implement an Admin CRM with demo attendance tracking, printable admit passes, and automated WhatsApp parent follow-ups.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Drive Offline Awareness: </a:t>
            </a:r>
            <a:r>
              <a:rPr b="0" sz="1000">
                <a:solidFill>
                  <a:srgbClr val="334155"/>
                </a:solidFill>
              </a:rPr>
              <a:t>Engineer an in-browser Marketing Studio with customizable posters, flyers, and direct-action QR codes for local notice boards.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Digitize Academic Operations: </a:t>
            </a:r>
            <a:r>
              <a:rPr b="0" sz="1000">
                <a:solidFill>
                  <a:srgbClr val="334155"/>
                </a:solidFill>
              </a:rPr>
              <a:t>Provide visual CBSE attendance meters, digital report cards, absentee alerts, and direct online UPI fee payments.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234440"/>
            <a:ext cx="3977639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📋 Organisation &amp; Community Requirements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Zero Recurring Financial Cost: </a:t>
            </a:r>
            <a:r>
              <a:rPr b="0" sz="1000">
                <a:solidFill>
                  <a:srgbClr val="334155"/>
                </a:solidFill>
              </a:rPr>
              <a:t>Architecture must leverage 100% free-tier cloud infrastructure (Vercel, Supabase, Firebase) without monthly maintenance expenses.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Non-Technical Usability: </a:t>
            </a:r>
            <a:r>
              <a:rPr b="0" sz="1000">
                <a:solidFill>
                  <a:srgbClr val="334155"/>
                </a:solidFill>
              </a:rPr>
              <a:t>Simple, intuitive administrative interface tailored for educators with minimal technical expertise on both mobile and desktop.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Frictionless Parent Interaction: </a:t>
            </a:r>
            <a:r>
              <a:rPr b="0" sz="1000">
                <a:solidFill>
                  <a:srgbClr val="334155"/>
                </a:solidFill>
              </a:rPr>
              <a:t>Utilize ubiquitous WhatsApp deep-linking for follow-ups and alerts, avoiding the barrier of requiring parents to download new mobile apps.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Curriculum &amp; Fee Transparency: </a:t>
            </a:r>
            <a:r>
              <a:rPr b="0" sz="1000">
                <a:solidFill>
                  <a:srgbClr val="334155"/>
                </a:solidFill>
              </a:rPr>
              <a:t>Public display of transparent batch timings, fee structures, faculty credentials, and genuine parent testimonials to build neighborhood trust.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24/7 AI Doubt Support: </a:t>
            </a:r>
            <a:r>
              <a:rPr b="0" sz="1000">
                <a:solidFill>
                  <a:srgbClr val="334155"/>
                </a:solidFill>
              </a:rPr>
              <a:t>Provide accessible doubt resolution for hesitant students outside classroom hours to improve academic outcomes.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59259"/>
            <a:ext cx="856895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4400" b="1" dirty="0"/>
              <a:t>SDG </a:t>
            </a:r>
            <a:r>
              <a:rPr lang="en-IN" sz="4000" b="1" dirty="0"/>
              <a:t>Mapping</a:t>
            </a:r>
            <a:r>
              <a:rPr lang="en-IN" sz="4400" b="1" dirty="0"/>
              <a:t> &amp; Justification</a:t>
            </a:r>
            <a:endParaRPr lang="en-IN" sz="44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234440"/>
            <a:ext cx="2560320" cy="4663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C5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250">
                <a:solidFill>
                  <a:srgbClr val="C5192D"/>
                </a:solidFill>
              </a:defRPr>
            </a:pPr>
            <a:r>
              <a:t>🎯 SDG 4: Quality Education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Target 4.1 &amp; 4.c: </a:t>
            </a:r>
            <a:r>
              <a:rPr b="0" sz="950">
                <a:solidFill>
                  <a:srgbClr val="334155"/>
                </a:solidFill>
              </a:rPr>
              <a:t>Ensure all girls and boys complete free, equitable, and quality primary and secondary education.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Affordable Tutoring: </a:t>
            </a:r>
            <a:r>
              <a:rPr b="0" sz="950">
                <a:solidFill>
                  <a:srgbClr val="334155"/>
                </a:solidFill>
              </a:rPr>
              <a:t>Expands neighborhood access to qualified CBSE tutoring in Maths and Science for families who cannot afford exorbitant corporate coaching institutes.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Inclusive Reach: </a:t>
            </a:r>
            <a:r>
              <a:rPr b="0" sz="950">
                <a:solidFill>
                  <a:srgbClr val="334155"/>
                </a:solidFill>
              </a:rPr>
              <a:t>Bridges educational gaps for students from adjacent villages (Dundahera, Carterpuri) with tailored foundational batches.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AI Doubt Democratization: </a:t>
            </a:r>
            <a:r>
              <a:rPr b="0" sz="950">
                <a:solidFill>
                  <a:srgbClr val="334155"/>
                </a:solidFill>
              </a:rPr>
              <a:t>Integrates 24/7 Google Gemini AI Instant Doubt Solver to provide step-by-step NCERT explanations anytime.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234440"/>
            <a:ext cx="2560320" cy="4663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A21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250">
                <a:solidFill>
                  <a:srgbClr val="A21942"/>
                </a:solidFill>
              </a:defRPr>
            </a:pPr>
            <a:r>
              <a:t>💼 SDG 8: Decent Work &amp; Growth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Target 8.3 &amp; 8.5: </a:t>
            </a:r>
            <a:r>
              <a:rPr b="0" sz="950">
                <a:solidFill>
                  <a:srgbClr val="334155"/>
                </a:solidFill>
              </a:rPr>
              <a:t>Promote development-oriented policies that support productive activities, entrepreneurship, and innovation.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Micro-Enterprise Empowerment: </a:t>
            </a:r>
            <a:r>
              <a:rPr b="0" sz="950">
                <a:solidFill>
                  <a:srgbClr val="334155"/>
                </a:solidFill>
              </a:rPr>
              <a:t>Transforms independent local teachers into sustainable, digitally empowered micro-entrepreneurs.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Capacity Utilization: </a:t>
            </a:r>
            <a:r>
              <a:rPr b="0" sz="950">
                <a:solidFill>
                  <a:srgbClr val="334155"/>
                </a:solidFill>
              </a:rPr>
              <a:t>Increases batch enrollment capacity by +65%, directly boosting household income and financial security for educators.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Zero Intermediary Fees: </a:t>
            </a:r>
            <a:r>
              <a:rPr b="0" sz="950">
                <a:solidFill>
                  <a:srgbClr val="334155"/>
                </a:solidFill>
              </a:rPr>
              <a:t>Eliminates predatory commission cuts of corporate tuition broker apps, letting teachers retain 100% of student fees.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234440"/>
            <a:ext cx="2560320" cy="4663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D6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250">
                <a:solidFill>
                  <a:srgbClr val="FD6925"/>
                </a:solidFill>
              </a:defRPr>
            </a:pPr>
            <a:r>
              <a:t>🚀 SDG 9: Industry &amp; Innovation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Target 9.c: </a:t>
            </a:r>
            <a:r>
              <a:rPr b="0" sz="950">
                <a:solidFill>
                  <a:srgbClr val="334155"/>
                </a:solidFill>
              </a:rPr>
              <a:t>Significantly increase access to information and communications technology.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Digital Infrastructure: </a:t>
            </a:r>
            <a:r>
              <a:rPr b="0" sz="950">
                <a:solidFill>
                  <a:srgbClr val="334155"/>
                </a:solidFill>
              </a:rPr>
              <a:t>Modernizes traditional chalk-and-talk neighborhood services with progressive Next.js 15 web architecture.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Smart QR Workflows: </a:t>
            </a:r>
            <a:r>
              <a:rPr b="0" sz="950">
                <a:solidFill>
                  <a:srgbClr val="334155"/>
                </a:solidFill>
              </a:rPr>
              <a:t>Introduces contactless QR codes for student attendance passes, marketing standees, and 1-click Google Maps review capture.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Local Discovery Tech: </a:t>
            </a:r>
            <a:r>
              <a:rPr b="0" sz="950">
                <a:solidFill>
                  <a:srgbClr val="334155"/>
                </a:solidFill>
              </a:rPr>
              <a:t>Applies Schema.org JSON-LD structured metadata to elevate grassroots educational visibility on global search engines.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749292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 and Tech Stack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234440"/>
            <a:ext cx="3977639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070C0"/>
                </a:solidFill>
              </a:defRPr>
            </a:pPr>
            <a:r>
              <a:t>⚙️ 4-Phase Project Methodology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Phase 1: Needs Assessment &amp; Survey: </a:t>
            </a:r>
            <a:r>
              <a:rPr b="0" sz="1000">
                <a:solidFill>
                  <a:srgbClr val="334155"/>
                </a:solidFill>
              </a:rPr>
              <a:t>Onsite field visits to Sector-22B, Gurgaon; structured interviews with Praveen Sir and Rashmi Ma'am; identification of operational bottlenecks.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Phase 2: Architectural &amp; UI Design: </a:t>
            </a:r>
            <a:r>
              <a:rPr b="0" sz="1000">
                <a:solidFill>
                  <a:srgbClr val="334155"/>
                </a:solidFill>
              </a:rPr>
              <a:t>Prototyping responsive layouts for Public Website, Marketing Studio, and Dashboards; formulating strict data contracts.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Phase 3: Agile Development &amp; Integration: </a:t>
            </a:r>
            <a:r>
              <a:rPr b="0" sz="1000">
                <a:solidFill>
                  <a:srgbClr val="334155"/>
                </a:solidFill>
              </a:rPr>
              <a:t>Building Next.js 15 App Router frontend, Tailwind UI system, Firebase Auth SDK, and Google Gemini AI Doubt Solver.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Phase 4: Field Testing &amp; Verification: </a:t>
            </a:r>
            <a:r>
              <a:rPr b="0" sz="1000">
                <a:solidFill>
                  <a:srgbClr val="334155"/>
                </a:solidFill>
              </a:rPr>
              <a:t>Deployment on Vercel; field testing of QR standees; running 14 student pilot trial; Google Business Profile verification and teacher handover.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234440"/>
            <a:ext cx="3977639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💻 Full-Stack Technology Stack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Frontend Framework: </a:t>
            </a:r>
            <a:r>
              <a:rPr b="0" sz="1000">
                <a:solidFill>
                  <a:srgbClr val="334155"/>
                </a:solidFill>
              </a:rPr>
              <a:t>Next.js 15 (App Router), React 19, TypeScript 5.7, Tailwind CSS 3.4, Lucide React Iconography.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Data Persistence: </a:t>
            </a:r>
            <a:r>
              <a:rPr b="0" sz="1000">
                <a:solidFill>
                  <a:srgbClr val="334155"/>
                </a:solidFill>
              </a:rPr>
              <a:t>Dual-strategy: Browser LocalStorage (zero-setup offline prototype) + Supabase PostgreSQL relational schema for cloud sync.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Authentication: </a:t>
            </a:r>
            <a:r>
              <a:rPr b="0" sz="1000">
                <a:solidFill>
                  <a:srgbClr val="334155"/>
                </a:solidFill>
              </a:rPr>
              <a:t>Firebase Auth SDK (v11) with cryptographic token decode fallbacks &amp; 1-click role session demo switching.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AI Engine: </a:t>
            </a:r>
            <a:r>
              <a:rPr b="0" sz="1000">
                <a:solidFill>
                  <a:srgbClr val="334155"/>
                </a:solidFill>
              </a:rPr>
              <a:t>Google Gemini API powering the 24/7 CBSE Instant Doubt Resolver Desk with step-by-step NCERT explanations.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SEO &amp; Local Discovery: </a:t>
            </a:r>
            <a:r>
              <a:rPr b="0" sz="1000">
                <a:solidFill>
                  <a:srgbClr val="334155"/>
                </a:solidFill>
              </a:rPr>
              <a:t>Google Business Profile optimization, Schema.org EducationalOrganization JSON-LD, dynamic sitemap &amp; robots.txt.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2" y="100424"/>
            <a:ext cx="885936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ounded Rectangle 14"/>
          <p:cNvSpPr/>
          <p:nvPr/>
        </p:nvSpPr>
        <p:spPr>
          <a:xfrm>
            <a:off x="457200" y="1234440"/>
            <a:ext cx="42976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070C0"/>
                </a:solidFill>
              </a:defRPr>
            </a:pPr>
            <a:r>
              <a:t>🏗️ Multi-Tier System Architecture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Layer 1: Discovery &amp; Acquisition: </a:t>
            </a:r>
            <a:r>
              <a:rPr b="0" sz="950">
                <a:solidFill>
                  <a:srgbClr val="334155"/>
                </a:solidFill>
              </a:rPr>
              <a:t>Public Marketing Site, Course &amp; Fee Catalog, Free Trial Booking Funnel, Local 3-Pack Google Search Simulator.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Layer 2: Local Marketing Engine: </a:t>
            </a:r>
            <a:r>
              <a:rPr b="0" sz="950">
                <a:solidFill>
                  <a:srgbClr val="334155"/>
                </a:solidFill>
              </a:rPr>
              <a:t>Marketing Studio for customizable flyers, Reception QR Standee generator, and WhatsApp broadcast campaigns.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Layer 3: Lead Conversion CRM: </a:t>
            </a:r>
            <a:r>
              <a:rPr b="0" sz="950">
                <a:solidFill>
                  <a:srgbClr val="334155"/>
                </a:solidFill>
              </a:rPr>
              <a:t>Trial Attendance Manager, Printable Demo Admit Passes with QR verification, 1-Click WhatsApp Parent Follow-ups.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Layer 4: Operational Role Portals: </a:t>
            </a:r>
            <a:r>
              <a:rPr b="0" sz="950">
                <a:solidFill>
                  <a:srgbClr val="334155"/>
                </a:solidFill>
              </a:rPr>
              <a:t>• Student: CBSE Attendance Health Meter, Doubt Desk
• Teacher: Camera QR Scanner, Batch Gradebooks
• Parent: PTM Slot Reservation, Razorpay UPI Fee Ledger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Layer 5: Persistence &amp; Core Services: </a:t>
            </a:r>
            <a:r>
              <a:rPr b="0" sz="950">
                <a:solidFill>
                  <a:srgbClr val="334155"/>
                </a:solidFill>
              </a:rPr>
              <a:t>Supabase DB, Firebase Auth, Google Gemini API, Razorpay Payment Gateway.</a:t>
            </a:r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5010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 (Semester Plan)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ounded Rectangle 11"/>
          <p:cNvSpPr/>
          <p:nvPr/>
        </p:nvSpPr>
        <p:spPr>
          <a:xfrm>
            <a:off x="457200" y="1234440"/>
            <a:ext cx="8229600" cy="105156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150">
                <a:solidFill>
                  <a:srgbClr val="0070C0"/>
                </a:solidFill>
              </a:defRPr>
            </a:pPr>
            <a:r>
              <a:t>Weeks 1–3: Project Inception &amp; Field Survey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Onsite field visits to Sector-22B Gurgaon; interviews with Praveen Sir and Rashmi Ma'am; identified offline word-of-mouth bottleneck, established baseline metrics, and mapped UN SDGs 4, 8 &amp; 9.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95728"/>
            <a:ext cx="82296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150">
                <a:solidFill>
                  <a:srgbClr val="0F172A"/>
                </a:solidFill>
              </a:defRPr>
            </a:pPr>
            <a:r>
              <a:t>Weeks 4–7: Web Platform &amp; Local SEO Identity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Architected Next.js 15 App Router platform with course catalog, teacher credentials, transparent fees, Google Business Profile optimization, and 1-Click Parent Review Assistant.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57016"/>
            <a:ext cx="82296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150">
                <a:solidFill>
                  <a:srgbClr val="0F172A"/>
                </a:solidFill>
              </a:defRPr>
            </a:pPr>
            <a:r>
              <a:t>Weeks 8–11: Trial CRM, Marketing Studio &amp; Portals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Developed 3-Day Free Trial conversion pipeline, printable student demo passes, automated WhatsApp follow-ups, and Marketing Studio for customizable flyers and reception QR standees.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18304"/>
            <a:ext cx="8229600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150">
                <a:solidFill>
                  <a:srgbClr val="059669"/>
                </a:solidFill>
              </a:defRPr>
            </a:pPr>
            <a:r>
              <a:t>Weeks 12–14: Pilot Rollout, Testing &amp; Evaluation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Conducted live pilot with 14 prospective students; achieved 66.7% trial conversion; finalized academic report, repository documentation, and completed final faculty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9888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 (if any)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234440"/>
            <a:ext cx="3977639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070C0"/>
                </a:solidFill>
              </a:defRPr>
            </a:pPr>
            <a:r>
              <a:t>📊 Data Entities &amp; Schemas Managed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Lead &amp; Trial CRM Pipeline: </a:t>
            </a:r>
            <a:r>
              <a:rPr b="0" sz="1000">
                <a:solidFill>
                  <a:srgbClr val="334155"/>
                </a:solidFill>
              </a:rPr>
              <a:t>Inquiries (New, Contacted, Enrolled), 3-Day Demo Registrations, Attendance Status (Attended, Absent), Parent Feedback Logs.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Academic &amp; Batch Records: </a:t>
            </a:r>
            <a:r>
              <a:rPr b="0" sz="1000">
                <a:solidFill>
                  <a:srgbClr val="334155"/>
                </a:solidFill>
              </a:rPr>
              <a:t>Active student profiles, teacher master records, subject batches, weekly test marks, and attendance check-in histories.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Communication &amp; Notices: </a:t>
            </a:r>
            <a:r>
              <a:rPr b="0" sz="1000">
                <a:solidFill>
                  <a:srgbClr val="334155"/>
                </a:solidFill>
              </a:rPr>
              <a:t>Automated absentee alerts, weekend PTM reservations, batch broadcast notices, and customized WhatsApp messages.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Financial Transactions: </a:t>
            </a:r>
            <a:r>
              <a:rPr b="0" sz="1000">
                <a:solidFill>
                  <a:srgbClr val="334155"/>
                </a:solidFill>
              </a:rPr>
              <a:t>Tuition fee ledger, monthly dues tracking, digital receipt generation, and Razorpay payment records.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Educational Content Vault: </a:t>
            </a:r>
            <a:r>
              <a:rPr b="0" sz="1000">
                <a:solidFill>
                  <a:srgbClr val="334155"/>
                </a:solidFill>
              </a:rPr>
              <a:t>CBSE practice question banks, NCERT study material PDFs, curated video lessons, and AI doubt resolution transcripts.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234440"/>
            <a:ext cx="3977639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🛠️ Technical, Cloud &amp; Field Resources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Zero-Cost Cloud Infrastructure: </a:t>
            </a:r>
            <a:r>
              <a:rPr b="0" sz="1000">
                <a:solidFill>
                  <a:srgbClr val="334155"/>
                </a:solidFill>
              </a:rPr>
              <a:t>Vercel Edge Network for high-speed SSR web hosting; Supabase PostgreSQL cloud database; Firebase Authentication.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AI Engine Infrastructure: </a:t>
            </a:r>
            <a:r>
              <a:rPr b="0" sz="1000">
                <a:solidFill>
                  <a:srgbClr val="334155"/>
                </a:solidFill>
              </a:rPr>
              <a:t>Google Gemini API integrated securely via runtime server routes for 24/7 doubt resolution.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Responsive Multi-Device Support: </a:t>
            </a:r>
            <a:r>
              <a:rPr b="0" sz="1000">
                <a:solidFill>
                  <a:srgbClr val="334155"/>
                </a:solidFill>
              </a:rPr>
              <a:t>Fully responsive client interfaces compatible across Android/iOS mobile devices, tablets, and desktop workstations.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Physical Marketing Collateral: </a:t>
            </a:r>
            <a:r>
              <a:rPr b="0" sz="1000">
                <a:solidFill>
                  <a:srgbClr val="334155"/>
                </a:solidFill>
              </a:rPr>
              <a:t>Browser-printable A4 admission flyers, reception desk QR standees, and society bulletin board notice posters.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Local Citation Assets: </a:t>
            </a:r>
            <a:r>
              <a:rPr b="0" sz="1000">
                <a:solidFill>
                  <a:srgbClr val="334155"/>
                </a:solidFill>
              </a:rPr>
              <a:t>Google Maps verified place pin, standardized NAP citations across local directories, and WhatsApp Business community link.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23444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070C0"/>
                </a:solidFill>
              </a:defRPr>
            </a:pPr>
            <a:r>
              <a:t>👥 Key Stakeholder Usecases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Usecase 1 (Parent Discovery): </a:t>
            </a:r>
            <a:r>
              <a:rPr b="0" sz="950">
                <a:solidFill>
                  <a:srgbClr val="334155"/>
                </a:solidFill>
              </a:rPr>
              <a:t>Nearby parent searches 'Maths tuition Sec 22B', views verified 4.9★ Google Maps card, inspects transparent fees, and books a 3-Day Free Demo class.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Usecase 2 (Teacher Operations): </a:t>
            </a:r>
            <a:r>
              <a:rPr b="0" sz="950">
                <a:solidFill>
                  <a:srgbClr val="334155"/>
                </a:solidFill>
              </a:rPr>
              <a:t>Teachers scan student QR passes on arrival for instant attendance logging, enter weekly test scores into digital gradebooks, and share homework notes.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Usecase 3 (Demo Lead Conversion): </a:t>
            </a:r>
            <a:r>
              <a:rPr b="0" sz="950">
                <a:solidFill>
                  <a:srgbClr val="334155"/>
                </a:solidFill>
              </a:rPr>
              <a:t>Admin issues printable Demo Admit Card, logs student trial attendance, and triggers automated WhatsApp feedback to parents to confirm enrollment.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Usecase 4 (Student Self-Paced Learning): </a:t>
            </a:r>
            <a:r>
              <a:rPr b="0" sz="950">
                <a:solidFill>
                  <a:srgbClr val="334155"/>
                </a:solidFill>
              </a:rPr>
              <a:t>Student uses 24/7 AI Doubt Solver for step-by-step NCERT problem explanations and tracks CBSE attendance health meter (&gt;75%).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234440"/>
            <a:ext cx="38862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🔍 Project Scope &amp; Future Roadmap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In-Scope (Delivered &amp; Verified): </a:t>
            </a:r>
            <a:r>
              <a:rPr b="0" sz="950">
                <a:solidFill>
                  <a:srgbClr val="334155"/>
                </a:solidFill>
              </a:rPr>
              <a:t>• Full-featured Next.js 15 web platform &amp; course catalog
• Google Business Profile simulator &amp; 1-Click Review tool
• Trial Class CRM with attendance &amp; printable pass modal
• Marketing Studio for flyers, banners &amp; QR standees
• Student, Teacher &amp; Parent portals with AI Doubt Desk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Future Scope (Post-Semester): </a:t>
            </a:r>
            <a:r>
              <a:rPr b="0" sz="950">
                <a:solidFill>
                  <a:srgbClr val="334155"/>
                </a:solidFill>
              </a:rPr>
              <a:t>• Multi-branch management for sister coaching centers
• Native Android/iOS applications on Google Play Store
• WhatsApp Business Cloud API automated webhook integration
• Automated homework OCR grading &amp; handwriting recognition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234440"/>
            <a:ext cx="3977639" cy="4663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59669"/>
                </a:solidFill>
              </a:defRPr>
            </a:pPr>
            <a:r>
              <a:t>📈 Quantifiable Field Results &amp; Metrics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Local Search Dominance: </a:t>
            </a:r>
            <a:r>
              <a:rPr b="0" sz="1000">
                <a:solidFill>
                  <a:srgbClr val="334155"/>
                </a:solidFill>
              </a:rPr>
              <a:t>Verified Google Business Profile established at 948, Sec-22B; achieved #1 ranking for 'coaching in Sec-22B Gurgaon' and 4.9★ rating.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Trial Conversion Rate (66.7%): </a:t>
            </a:r>
            <a:r>
              <a:rPr b="0" sz="1000">
                <a:solidFill>
                  <a:srgbClr val="334155"/>
                </a:solidFill>
              </a:rPr>
              <a:t>14 demo registrations captured during pilot; 9 students attended 3-day demo classes; 6 converted to regular monthly admissions.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Batch Capacity Growth (+65%): </a:t>
            </a:r>
            <a:r>
              <a:rPr b="0" sz="1000">
                <a:solidFill>
                  <a:srgbClr val="334155"/>
                </a:solidFill>
              </a:rPr>
              <a:t>Increased batch enrollments from baseline 4–6 students to 12–15 students per batch, optimizing classroom capacity.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Administrative Time Savings (80%): </a:t>
            </a:r>
            <a:r>
              <a:rPr b="0" sz="1000">
                <a:solidFill>
                  <a:srgbClr val="334155"/>
                </a:solidFill>
              </a:rPr>
              <a:t>Reduced teacher time spent on manual phone calling by ~80% via automated WhatsApp broadcast templates and absentee notices.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Paperless Operations (100%): </a:t>
            </a:r>
            <a:r>
              <a:rPr b="0" sz="1000">
                <a:solidFill>
                  <a:srgbClr val="334155"/>
                </a:solidFill>
              </a:rPr>
              <a:t>Eliminated physical fee receipt books with automated digital receipts and online UPI payments.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234440"/>
            <a:ext cx="3977639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🌟 Qualitative Community Impact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Preserving Grassroots Education: </a:t>
            </a:r>
            <a:r>
              <a:rPr b="0" sz="1000">
                <a:solidFill>
                  <a:srgbClr val="334155"/>
                </a:solidFill>
              </a:rPr>
              <a:t>Empowered two devoted local teachers with modern digital tools to compete effectively against predatory corporate EdTech chains.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Affordable Quality Tutoring: </a:t>
            </a:r>
            <a:r>
              <a:rPr b="0" sz="1000">
                <a:solidFill>
                  <a:srgbClr val="334155"/>
                </a:solidFill>
              </a:rPr>
              <a:t>Ensured local families in Sector 22B and surrounding villages have access to high-standard CBSE guidance without commercial broker commissions.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Stronger Parent-Teacher Trust: </a:t>
            </a:r>
            <a:r>
              <a:rPr b="0" sz="1000">
                <a:solidFill>
                  <a:srgbClr val="334155"/>
                </a:solidFill>
              </a:rPr>
              <a:t>Transparent attendance tracking, digital gradebooks, and instant WhatsApp updates significantly heightened parent involvement.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Self-Sustaining Model: </a:t>
            </a:r>
            <a:r>
              <a:rPr b="0" sz="1000">
                <a:solidFill>
                  <a:srgbClr val="334155"/>
                </a:solidFill>
              </a:rPr>
              <a:t>Zero recurring hosting fees ensures the teachers can independently operate, maintain, and benefit from the system indefinitely.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45920" y="3749039"/>
            <a:ext cx="5852160" cy="164592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070C0"/>
                </a:solidFill>
              </a:defRPr>
            </a:pPr>
            <a:r>
              <a:t>Digital Transformation for Local Coaching Educators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Beneficiary: </a:t>
            </a:r>
            <a:r>
              <a:rPr b="0" sz="1000">
                <a:solidFill>
                  <a:srgbClr val="334155"/>
                </a:solidFill>
              </a:rPr>
              <a:t>Prime Learning Classes (948, Sec-22B, Near Anand Farm, Gurugram)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Presented by: </a:t>
            </a:r>
            <a:r>
              <a:rPr b="0" sz="1000">
                <a:solidFill>
                  <a:srgbClr val="334155"/>
                </a:solidFill>
              </a:rPr>
              <a:t>Bhavya Anand — Second Year (Semester 3), B.Tech CSE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Project Repository: </a:t>
            </a:r>
            <a:r>
              <a:rPr b="0" sz="1000">
                <a:solidFill>
                  <a:srgbClr val="334155"/>
                </a:solidFill>
              </a:rPr>
              <a:t>github.com/bhavyaanand2101-coder/Community_Service_2026</a:t>
            </a: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6294</TotalTime>
  <Words>140</Words>
  <Application>Microsoft Office PowerPoint</Application>
  <PresentationFormat>On-screen Show (4:3)</PresentationFormat>
  <Paragraphs>46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Jyoti Yadav</cp:lastModifiedBy>
  <cp:revision>314</cp:revision>
  <cp:lastPrinted>2022-09-05T08:43:44Z</cp:lastPrinted>
  <dcterms:created xsi:type="dcterms:W3CDTF">2020-01-16T09:05:56Z</dcterms:created>
  <dcterms:modified xsi:type="dcterms:W3CDTF">2026-08-14T17:04:32Z</dcterms:modified>
</cp:coreProperties>
</file>